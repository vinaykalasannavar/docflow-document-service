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7" r:id="rId5"/>
    <p:sldId id="259" r:id="rId6"/>
    <p:sldId id="258" r:id="rId7"/>
    <p:sldId id="263" r:id="rId8"/>
    <p:sldId id="266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8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231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69968-3CBD-A0E2-D4EA-35C93B91E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9538AA-FE57-9417-10A6-0B8837A92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3CF25-0056-CF34-0200-C0C83B47D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6855C-4451-4D51-9C19-AA57B9F05DC3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7D76B-BC19-968E-C0F6-09421A69B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119C0-A788-F7F9-2EC2-95CDF0A0E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C41F4-C28B-42FF-898F-15757FEB02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9909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3C184-C35B-7FEE-7733-20D87D357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06BBC-4743-41CE-4964-8DC53383E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66A50-EDD9-A0E1-349E-2580CBC8E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6855C-4451-4D51-9C19-AA57B9F05DC3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B4639-8916-E648-2C09-BA3219971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DB74C-44B5-6B7A-BA31-4A4A3F0DD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C41F4-C28B-42FF-898F-15757FEB02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4399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22DBB-B16A-8952-817E-065331BCF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EC29E-B059-0A9D-C4C0-C309CC2F3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E4028-F82B-4BD2-B1C0-AE276CBB4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6855C-4451-4D51-9C19-AA57B9F05DC3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9BE9F-8B63-3D33-1D9D-4D6C19DA6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A8F63-FE01-8738-95AC-B21622DAC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C41F4-C28B-42FF-898F-15757FEB02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5837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0D58B-1532-FDEC-5E47-8420E64D2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286F6-1BEE-FED9-59E2-61D4C3094B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319055-83A8-83FF-447F-8DA5A5172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5022C-18BF-CDA4-9024-0D2060279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6855C-4451-4D51-9C19-AA57B9F05DC3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F4E0B-64F3-55D4-1618-0A5E2A8A8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CC5B10-8A8C-50A4-AA28-AACD63B16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C41F4-C28B-42FF-898F-15757FEB02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6494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EFBD8-61BB-264C-EBC6-53C326642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15500-5111-2756-017C-8E38FDEF8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1E0E83-EE76-D2BB-09D8-BD37F89F5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238B8-9F2C-C8D1-F7F1-3098835681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44849B-CBA7-1F44-675B-6A570833A9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3A94E2-53AC-ED70-6219-40556D193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6855C-4451-4D51-9C19-AA57B9F05DC3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696188-492F-9C17-C63B-9C434449C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1A864-3B6D-2F53-55F3-E931D8D72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C41F4-C28B-42FF-898F-15757FEB02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5627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4DE87-0E0A-4D54-4E7E-E41B6A95E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D4B26B-D827-539E-BC2B-AAA4BC524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6855C-4451-4D51-9C19-AA57B9F05DC3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7AB6F3-B541-CFDE-ABBB-1826155F9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C1ACCF-CE58-62F9-EC19-B843F6BA1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C41F4-C28B-42FF-898F-15757FEB02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7863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DFF616-A7C6-0035-EA85-4992F707C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6855C-4451-4D51-9C19-AA57B9F05DC3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CE9B26-43ED-3B3E-704D-564842F8F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67554-ED3D-0CA4-21DE-12472A60A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C41F4-C28B-42FF-898F-15757FEB02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3730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17830-702A-2240-AF3A-838E970F9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50C4B-C922-D994-57B3-34753A8A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79E69-B460-98B6-E598-BD288B8A9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E7EB8F-8898-6755-2259-F7F438A47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6855C-4451-4D51-9C19-AA57B9F05DC3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A7C49-4EDB-82F4-EE03-09C9A817E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39F662-9489-BF84-B779-FCF9C8192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C41F4-C28B-42FF-898F-15757FEB02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233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0FF16-9597-CFAA-7669-7FDB922E5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7043B2-E479-3DE0-C69C-F8D44C2457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6208FF-F4A0-6532-326A-7E0EC63FA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A3A16F-CBD2-66D0-A2D9-88660B621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6855C-4451-4D51-9C19-AA57B9F05DC3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BCE45E-95FF-163F-12BC-95D211B9D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D567A-C9EC-A87E-58C6-5318370E2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C41F4-C28B-42FF-898F-15757FEB02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8320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663AF-5ADE-37B2-DA5F-26F529628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4E1407-8D12-67C4-E261-459F58677A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18BCD-B124-CA6F-D354-C91CCBCF1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6855C-4451-4D51-9C19-AA57B9F05DC3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E0BF6-CD51-202C-C88B-FFD92E955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6F8DB-E7A5-DE7F-2525-AF5794D04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C41F4-C28B-42FF-898F-15757FEB02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3721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A20B3F-B6FE-6945-A244-81416219C4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9C80C7-E902-711D-EA33-062E73F833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D2FFF-7466-E4DD-BED5-D4EA3278D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6855C-4451-4D51-9C19-AA57B9F05DC3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E67D6-94A8-8779-37FD-8B453735D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ED121-1DAE-0494-EE06-C46EE2781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C41F4-C28B-42FF-898F-15757FEB02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7035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B2619-05E8-AA8C-C013-CE100097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21113-7AD3-E020-B2C2-F4B261A35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A94BB-4DFB-9DD6-6028-5E9801B736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6855C-4451-4D51-9C19-AA57B9F05DC3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E763B-55E0-A98F-3601-BA6723D407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33BEA-8598-C79D-3F98-B41E413E9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C41F4-C28B-42FF-898F-15757FEB02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6503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AA6E8-E0D3-1A6E-1235-6E902EC046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DocFlow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14592C-5569-FB8B-9F46-4B39D795E2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AI-powered document processing platform.</a:t>
            </a:r>
          </a:p>
        </p:txBody>
      </p:sp>
    </p:spTree>
    <p:extLst>
      <p:ext uri="{BB962C8B-B14F-4D97-AF65-F5344CB8AC3E}">
        <p14:creationId xmlns:p14="http://schemas.microsoft.com/office/powerpoint/2010/main" val="1770665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5B37A0-7538-3BB9-10C0-6839B71AF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90" y="2227946"/>
            <a:ext cx="10521820" cy="240210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A6CA72-78E4-E023-407C-02410FC7B0A4}"/>
              </a:ext>
            </a:extLst>
          </p:cNvPr>
          <p:cNvSpPr/>
          <p:nvPr/>
        </p:nvSpPr>
        <p:spPr>
          <a:xfrm>
            <a:off x="923365" y="2348753"/>
            <a:ext cx="1909482" cy="2281300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AE7716-C058-CA77-2D38-66481DDF13ED}"/>
              </a:ext>
            </a:extLst>
          </p:cNvPr>
          <p:cNvSpPr/>
          <p:nvPr/>
        </p:nvSpPr>
        <p:spPr>
          <a:xfrm>
            <a:off x="3012142" y="2348751"/>
            <a:ext cx="1909482" cy="2281300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5D475E-591A-CB6A-D518-C9600F24EDAC}"/>
              </a:ext>
            </a:extLst>
          </p:cNvPr>
          <p:cNvSpPr/>
          <p:nvPr/>
        </p:nvSpPr>
        <p:spPr>
          <a:xfrm>
            <a:off x="5130924" y="2348751"/>
            <a:ext cx="1909482" cy="2281300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0334F5-CA0A-758A-D128-0639F77F5572}"/>
              </a:ext>
            </a:extLst>
          </p:cNvPr>
          <p:cNvSpPr/>
          <p:nvPr/>
        </p:nvSpPr>
        <p:spPr>
          <a:xfrm>
            <a:off x="7234723" y="2348751"/>
            <a:ext cx="1909482" cy="2281300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097478-AA77-C057-ED00-C78DC96E7A0F}"/>
              </a:ext>
            </a:extLst>
          </p:cNvPr>
          <p:cNvSpPr/>
          <p:nvPr/>
        </p:nvSpPr>
        <p:spPr>
          <a:xfrm>
            <a:off x="9359153" y="2348751"/>
            <a:ext cx="1909482" cy="2281300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7D3404-2EFE-A8F1-BA2F-D5F3D3E709CA}"/>
              </a:ext>
            </a:extLst>
          </p:cNvPr>
          <p:cNvSpPr txBox="1"/>
          <p:nvPr/>
        </p:nvSpPr>
        <p:spPr>
          <a:xfrm>
            <a:off x="918883" y="51639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documents!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Many types of documents!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Candidate CVs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Invoices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US" altLang="en-US" dirty="0">
                <a:latin typeface="Arial" panose="020B0604020202020204" pitchFamily="34" charset="0"/>
              </a:rPr>
              <a:t>Contracts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&quot;Not Allowed&quot; Symbol 2">
            <a:extLst>
              <a:ext uri="{FF2B5EF4-FFF2-40B4-BE49-F238E27FC236}">
                <a16:creationId xmlns:a16="http://schemas.microsoft.com/office/drawing/2014/main" id="{16F8347D-C880-C29E-1B2B-84893529CAD8}"/>
              </a:ext>
            </a:extLst>
          </p:cNvPr>
          <p:cNvSpPr/>
          <p:nvPr/>
        </p:nvSpPr>
        <p:spPr>
          <a:xfrm>
            <a:off x="3408030" y="1255060"/>
            <a:ext cx="4132730" cy="4151549"/>
          </a:xfrm>
          <a:prstGeom prst="noSmoking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chemeClr val="tx1"/>
                </a:solidFill>
                <a:highlight>
                  <a:srgbClr val="FF0000"/>
                </a:highlight>
                <a:latin typeface="Arial" panose="020B0604020202020204" pitchFamily="34" charset="0"/>
              </a:rPr>
              <a:t>Problems!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altLang="en-US" sz="1400" dirty="0">
                <a:solidFill>
                  <a:schemeClr val="tx1"/>
                </a:solidFill>
                <a:highlight>
                  <a:srgbClr val="FF0000"/>
                </a:highlight>
                <a:latin typeface="Arial" panose="020B0604020202020204" pitchFamily="34" charset="0"/>
              </a:rPr>
              <a:t>slow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altLang="en-US" sz="1400" dirty="0">
                <a:solidFill>
                  <a:schemeClr val="tx1"/>
                </a:solidFill>
                <a:highlight>
                  <a:srgbClr val="FF0000"/>
                </a:highlight>
                <a:latin typeface="Arial" panose="020B0604020202020204" pitchFamily="34" charset="0"/>
              </a:rPr>
              <a:t>expensive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altLang="en-US" sz="1400" dirty="0">
                <a:solidFill>
                  <a:schemeClr val="tx1"/>
                </a:solidFill>
                <a:highlight>
                  <a:srgbClr val="FF0000"/>
                </a:highlight>
                <a:latin typeface="Arial" panose="020B0604020202020204" pitchFamily="34" charset="0"/>
              </a:rPr>
              <a:t>inconsistent </a:t>
            </a:r>
            <a:endParaRPr lang="en-US" altLang="en-US" sz="1400" dirty="0">
              <a:highlight>
                <a:srgbClr val="FF0000"/>
              </a:highlight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altLang="en-US" sz="1400" dirty="0">
                <a:solidFill>
                  <a:schemeClr val="tx1"/>
                </a:solidFill>
                <a:highlight>
                  <a:srgbClr val="FF0000"/>
                </a:highlight>
                <a:latin typeface="Arial" panose="020B0604020202020204" pitchFamily="34" charset="0"/>
              </a:rPr>
              <a:t>impossible to scale efficiently </a:t>
            </a:r>
          </a:p>
          <a:p>
            <a:pPr lvl="1" algn="ctr"/>
            <a:endParaRPr lang="en-GB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92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6" presetClass="emph" presetSubtype="0" repeatCount="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10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2" dur="5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5" grpId="0" animBg="1"/>
      <p:bldP spid="15" grpId="1" animBg="1"/>
      <p:bldP spid="17" grpId="0" uiExpand="1" build="allAtOnce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3" descr="DocFlow AI platform architecture diagram">
            <a:extLst>
              <a:ext uri="{FF2B5EF4-FFF2-40B4-BE49-F238E27FC236}">
                <a16:creationId xmlns:a16="http://schemas.microsoft.com/office/drawing/2014/main" id="{C13343F6-53D3-C9E5-7265-2C97359B1A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7F442D7-C84A-E362-EDE5-8A1F8EA46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B176379-ECF1-8DD3-CD40-8C23E5BF9D43}"/>
              </a:ext>
            </a:extLst>
          </p:cNvPr>
          <p:cNvSpPr/>
          <p:nvPr/>
        </p:nvSpPr>
        <p:spPr>
          <a:xfrm>
            <a:off x="923365" y="1030941"/>
            <a:ext cx="1909482" cy="3935506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4BA9A5-1B98-A940-19DA-7F1DC0A9EBB1}"/>
              </a:ext>
            </a:extLst>
          </p:cNvPr>
          <p:cNvSpPr/>
          <p:nvPr/>
        </p:nvSpPr>
        <p:spPr>
          <a:xfrm>
            <a:off x="2985247" y="1030942"/>
            <a:ext cx="1757082" cy="3935505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5AB62C-A14E-9D25-8292-347831BB0278}"/>
              </a:ext>
            </a:extLst>
          </p:cNvPr>
          <p:cNvSpPr/>
          <p:nvPr/>
        </p:nvSpPr>
        <p:spPr>
          <a:xfrm>
            <a:off x="4491318" y="1030942"/>
            <a:ext cx="1757082" cy="3935505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97B2ED-82A1-F3E7-BE40-50872E2874DE}"/>
              </a:ext>
            </a:extLst>
          </p:cNvPr>
          <p:cNvSpPr/>
          <p:nvPr/>
        </p:nvSpPr>
        <p:spPr>
          <a:xfrm>
            <a:off x="5997389" y="1030942"/>
            <a:ext cx="1757082" cy="3935505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932094-881E-1FB8-7345-BAEBA19C8822}"/>
              </a:ext>
            </a:extLst>
          </p:cNvPr>
          <p:cNvSpPr/>
          <p:nvPr/>
        </p:nvSpPr>
        <p:spPr>
          <a:xfrm>
            <a:off x="7503460" y="1013011"/>
            <a:ext cx="1757082" cy="3935505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F07554-6FBC-D290-A3BF-F1986A99F033}"/>
              </a:ext>
            </a:extLst>
          </p:cNvPr>
          <p:cNvSpPr/>
          <p:nvPr/>
        </p:nvSpPr>
        <p:spPr>
          <a:xfrm>
            <a:off x="9356913" y="1013011"/>
            <a:ext cx="1757082" cy="3935505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84F277-4340-BD56-E501-9762E1D4930E}"/>
              </a:ext>
            </a:extLst>
          </p:cNvPr>
          <p:cNvSpPr/>
          <p:nvPr/>
        </p:nvSpPr>
        <p:spPr>
          <a:xfrm>
            <a:off x="2911290" y="941293"/>
            <a:ext cx="6232710" cy="4733366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513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8C82DE-DC2D-29E0-703B-0C69752B4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493" y="480601"/>
            <a:ext cx="9955014" cy="5896798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7127275F-3837-8344-78CA-FAB8AF69CA64}"/>
              </a:ext>
            </a:extLst>
          </p:cNvPr>
          <p:cNvSpPr/>
          <p:nvPr/>
        </p:nvSpPr>
        <p:spPr>
          <a:xfrm>
            <a:off x="3543300" y="1365250"/>
            <a:ext cx="1638300" cy="615950"/>
          </a:xfrm>
          <a:prstGeom prst="rect">
            <a:avLst/>
          </a:prstGeom>
          <a:noFill/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A8AA3A8-A9F7-555C-F3B4-F10485EDD0A3}"/>
              </a:ext>
            </a:extLst>
          </p:cNvPr>
          <p:cNvCxnSpPr>
            <a:cxnSpLocks/>
          </p:cNvCxnSpPr>
          <p:nvPr/>
        </p:nvCxnSpPr>
        <p:spPr>
          <a:xfrm>
            <a:off x="4323557" y="1924050"/>
            <a:ext cx="0" cy="41195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3E6EE427-D70E-EE4B-848D-77D80EFF6F6C}"/>
              </a:ext>
            </a:extLst>
          </p:cNvPr>
          <p:cNvSpPr/>
          <p:nvPr/>
        </p:nvSpPr>
        <p:spPr>
          <a:xfrm>
            <a:off x="3504406" y="2232025"/>
            <a:ext cx="1677193" cy="492125"/>
          </a:xfrm>
          <a:prstGeom prst="rect">
            <a:avLst/>
          </a:prstGeom>
          <a:noFill/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C156119-6E95-C221-7B07-A28A0AA12233}"/>
              </a:ext>
            </a:extLst>
          </p:cNvPr>
          <p:cNvCxnSpPr>
            <a:cxnSpLocks/>
          </p:cNvCxnSpPr>
          <p:nvPr/>
        </p:nvCxnSpPr>
        <p:spPr>
          <a:xfrm flipH="1">
            <a:off x="2540000" y="2724150"/>
            <a:ext cx="1783557" cy="61595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D0F8EBBB-201C-8536-CAE6-AA45DEC3AA7F}"/>
              </a:ext>
            </a:extLst>
          </p:cNvPr>
          <p:cNvSpPr/>
          <p:nvPr/>
        </p:nvSpPr>
        <p:spPr>
          <a:xfrm>
            <a:off x="1548606" y="3359150"/>
            <a:ext cx="1708944" cy="615950"/>
          </a:xfrm>
          <a:prstGeom prst="rect">
            <a:avLst/>
          </a:prstGeom>
          <a:noFill/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6A3473D-5F0F-77B0-0365-410C993BAF03}"/>
              </a:ext>
            </a:extLst>
          </p:cNvPr>
          <p:cNvCxnSpPr>
            <a:cxnSpLocks/>
          </p:cNvCxnSpPr>
          <p:nvPr/>
        </p:nvCxnSpPr>
        <p:spPr>
          <a:xfrm>
            <a:off x="2540000" y="3852863"/>
            <a:ext cx="0" cy="59130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14A8CCA2-8D1E-2C33-4059-4EFA97DA683A}"/>
              </a:ext>
            </a:extLst>
          </p:cNvPr>
          <p:cNvSpPr/>
          <p:nvPr/>
        </p:nvSpPr>
        <p:spPr>
          <a:xfrm>
            <a:off x="1637506" y="4394200"/>
            <a:ext cx="1708944" cy="488950"/>
          </a:xfrm>
          <a:prstGeom prst="rect">
            <a:avLst/>
          </a:prstGeom>
          <a:noFill/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CAFE1EE-2782-3CCA-EDC7-FE390C4612EE}"/>
              </a:ext>
            </a:extLst>
          </p:cNvPr>
          <p:cNvCxnSpPr>
            <a:cxnSpLocks/>
            <a:stCxn id="59" idx="2"/>
          </p:cNvCxnSpPr>
          <p:nvPr/>
        </p:nvCxnSpPr>
        <p:spPr>
          <a:xfrm flipH="1">
            <a:off x="1784350" y="4883150"/>
            <a:ext cx="707628" cy="69215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C5F8E3C2-9714-F48C-6C5F-6EA007A0F230}"/>
              </a:ext>
            </a:extLst>
          </p:cNvPr>
          <p:cNvSpPr/>
          <p:nvPr/>
        </p:nvSpPr>
        <p:spPr>
          <a:xfrm>
            <a:off x="1279128" y="5583648"/>
            <a:ext cx="917972" cy="671101"/>
          </a:xfrm>
          <a:prstGeom prst="rect">
            <a:avLst/>
          </a:prstGeom>
          <a:noFill/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FA8D3E8-FB7C-325A-D9B6-344A6E01DCCC}"/>
              </a:ext>
            </a:extLst>
          </p:cNvPr>
          <p:cNvCxnSpPr>
            <a:cxnSpLocks/>
          </p:cNvCxnSpPr>
          <p:nvPr/>
        </p:nvCxnSpPr>
        <p:spPr>
          <a:xfrm>
            <a:off x="1948070" y="1620078"/>
            <a:ext cx="1556336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0D6FFE14-1BCF-F269-4F87-B32AE0ACD065}"/>
              </a:ext>
            </a:extLst>
          </p:cNvPr>
          <p:cNvSpPr txBox="1"/>
          <p:nvPr/>
        </p:nvSpPr>
        <p:spPr>
          <a:xfrm>
            <a:off x="1877270" y="1312301"/>
            <a:ext cx="1229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Upload File</a:t>
            </a:r>
          </a:p>
        </p:txBody>
      </p:sp>
      <p:sp>
        <p:nvSpPr>
          <p:cNvPr id="70" name="Flowchart: Magnetic Disk 69">
            <a:extLst>
              <a:ext uri="{FF2B5EF4-FFF2-40B4-BE49-F238E27FC236}">
                <a16:creationId xmlns:a16="http://schemas.microsoft.com/office/drawing/2014/main" id="{8ECDA26B-8D9C-0316-D640-D7B206F4B32A}"/>
              </a:ext>
            </a:extLst>
          </p:cNvPr>
          <p:cNvSpPr/>
          <p:nvPr/>
        </p:nvSpPr>
        <p:spPr>
          <a:xfrm>
            <a:off x="123326" y="3975100"/>
            <a:ext cx="1210224" cy="488950"/>
          </a:xfrm>
          <a:prstGeom prst="flowChartMagneticDisk">
            <a:avLst/>
          </a:prstGeom>
          <a:ln>
            <a:solidFill>
              <a:srgbClr val="00B05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Blob Storage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61C68A4-DC18-EA91-E0EF-98EEB1891CFF}"/>
              </a:ext>
            </a:extLst>
          </p:cNvPr>
          <p:cNvCxnSpPr>
            <a:cxnSpLocks/>
          </p:cNvCxnSpPr>
          <p:nvPr/>
        </p:nvCxnSpPr>
        <p:spPr>
          <a:xfrm flipH="1">
            <a:off x="1333550" y="3806687"/>
            <a:ext cx="543720" cy="42796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AC7DA54-C07B-C477-8B5C-E8F2683FA605}"/>
              </a:ext>
            </a:extLst>
          </p:cNvPr>
          <p:cNvCxnSpPr>
            <a:cxnSpLocks/>
          </p:cNvCxnSpPr>
          <p:nvPr/>
        </p:nvCxnSpPr>
        <p:spPr>
          <a:xfrm>
            <a:off x="905312" y="4537075"/>
            <a:ext cx="641549" cy="1038225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5C55EE9-FF0C-41BD-553D-2460A49FD8F7}"/>
              </a:ext>
            </a:extLst>
          </p:cNvPr>
          <p:cNvSpPr/>
          <p:nvPr/>
        </p:nvSpPr>
        <p:spPr>
          <a:xfrm>
            <a:off x="713677" y="5056187"/>
            <a:ext cx="7605569" cy="1321212"/>
          </a:xfrm>
          <a:prstGeom prst="rect">
            <a:avLst/>
          </a:prstGeom>
          <a:noFill/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GB" dirty="0">
                <a:solidFill>
                  <a:schemeClr val="accent6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				AI Services</a:t>
            </a:r>
          </a:p>
        </p:txBody>
      </p:sp>
    </p:spTree>
    <p:extLst>
      <p:ext uri="{BB962C8B-B14F-4D97-AF65-F5344CB8AC3E}">
        <p14:creationId xmlns:p14="http://schemas.microsoft.com/office/powerpoint/2010/main" val="1865767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42" grpId="0" animBg="1"/>
      <p:bldP spid="53" grpId="0" animBg="1"/>
      <p:bldP spid="59" grpId="0" animBg="1"/>
      <p:bldP spid="61" grpId="0" animBg="1"/>
      <p:bldP spid="68" grpId="0"/>
      <p:bldP spid="70" grpId="0" animBg="1"/>
      <p:bldP spid="2" grpId="0" animBg="1"/>
      <p:bldP spid="2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CA489-2506-6394-F82E-029174069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7CFFC4-5FE3-758B-AEDC-C8B083060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493" y="435330"/>
            <a:ext cx="9955014" cy="5896798"/>
          </a:xfrm>
          <a:prstGeom prst="rect">
            <a:avLst/>
          </a:prstGeom>
        </p:spPr>
      </p:pic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9A2EDBBE-8229-DF9A-0177-B35716AC2BAF}"/>
              </a:ext>
            </a:extLst>
          </p:cNvPr>
          <p:cNvCxnSpPr>
            <a:cxnSpLocks/>
          </p:cNvCxnSpPr>
          <p:nvPr/>
        </p:nvCxnSpPr>
        <p:spPr>
          <a:xfrm>
            <a:off x="822960" y="2842260"/>
            <a:ext cx="929640" cy="601980"/>
          </a:xfrm>
          <a:prstGeom prst="bentConnector3">
            <a:avLst/>
          </a:prstGeom>
          <a:ln>
            <a:solidFill>
              <a:srgbClr val="00B050"/>
            </a:solidFill>
            <a:tailEnd type="triangle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F56BC3B-A749-E817-B29C-3CE0E8045EC7}"/>
              </a:ext>
            </a:extLst>
          </p:cNvPr>
          <p:cNvSpPr/>
          <p:nvPr/>
        </p:nvSpPr>
        <p:spPr>
          <a:xfrm>
            <a:off x="320040" y="2514600"/>
            <a:ext cx="876300" cy="601980"/>
          </a:xfrm>
          <a:prstGeom prst="rect">
            <a:avLst/>
          </a:prstGeom>
          <a:ln>
            <a:solidFill>
              <a:srgbClr val="00B05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Swagger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5295A31-528E-39F7-57D6-5EB3DC83BC17}"/>
              </a:ext>
            </a:extLst>
          </p:cNvPr>
          <p:cNvCxnSpPr/>
          <p:nvPr/>
        </p:nvCxnSpPr>
        <p:spPr>
          <a:xfrm>
            <a:off x="1714500" y="3831431"/>
            <a:ext cx="445294" cy="0"/>
          </a:xfrm>
          <a:prstGeom prst="line">
            <a:avLst/>
          </a:prstGeom>
          <a:ln>
            <a:solidFill>
              <a:srgbClr val="00B05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3013F08-68D6-AFEC-9276-74DF78E7333F}"/>
              </a:ext>
            </a:extLst>
          </p:cNvPr>
          <p:cNvCxnSpPr>
            <a:cxnSpLocks/>
          </p:cNvCxnSpPr>
          <p:nvPr/>
        </p:nvCxnSpPr>
        <p:spPr>
          <a:xfrm>
            <a:off x="2352675" y="3840956"/>
            <a:ext cx="585788" cy="0"/>
          </a:xfrm>
          <a:prstGeom prst="line">
            <a:avLst/>
          </a:prstGeom>
          <a:ln>
            <a:solidFill>
              <a:srgbClr val="00B05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5152159-1E0D-8803-D01E-1BC36B504BD2}"/>
              </a:ext>
            </a:extLst>
          </p:cNvPr>
          <p:cNvCxnSpPr>
            <a:cxnSpLocks/>
          </p:cNvCxnSpPr>
          <p:nvPr/>
        </p:nvCxnSpPr>
        <p:spPr>
          <a:xfrm>
            <a:off x="2638425" y="3840956"/>
            <a:ext cx="0" cy="62626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33B0C5C-A6D4-BDDA-4DEA-CB16D992DAB5}"/>
              </a:ext>
            </a:extLst>
          </p:cNvPr>
          <p:cNvSpPr/>
          <p:nvPr/>
        </p:nvSpPr>
        <p:spPr>
          <a:xfrm>
            <a:off x="1645920" y="4457701"/>
            <a:ext cx="1699260" cy="411474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27334E9-D871-5D68-DBB8-6E7DC3DD11FE}"/>
              </a:ext>
            </a:extLst>
          </p:cNvPr>
          <p:cNvCxnSpPr>
            <a:cxnSpLocks/>
          </p:cNvCxnSpPr>
          <p:nvPr/>
        </p:nvCxnSpPr>
        <p:spPr>
          <a:xfrm flipH="1">
            <a:off x="1355725" y="3867150"/>
            <a:ext cx="520145" cy="24765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0D01D312-82C0-C52F-7032-C90D5EAD0A97}"/>
              </a:ext>
            </a:extLst>
          </p:cNvPr>
          <p:cNvCxnSpPr>
            <a:cxnSpLocks/>
          </p:cNvCxnSpPr>
          <p:nvPr/>
        </p:nvCxnSpPr>
        <p:spPr>
          <a:xfrm rot="10800000">
            <a:off x="1287785" y="2644140"/>
            <a:ext cx="1650679" cy="1120140"/>
          </a:xfrm>
          <a:prstGeom prst="bentConnector3">
            <a:avLst>
              <a:gd name="adj1" fmla="val -9550"/>
            </a:avLst>
          </a:prstGeom>
          <a:ln>
            <a:solidFill>
              <a:srgbClr val="00B050"/>
            </a:solidFill>
            <a:tailEnd type="triangle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8F649D45-7818-8655-EDF6-136207192F33}"/>
              </a:ext>
            </a:extLst>
          </p:cNvPr>
          <p:cNvSpPr/>
          <p:nvPr/>
        </p:nvSpPr>
        <p:spPr>
          <a:xfrm>
            <a:off x="1219557" y="2514600"/>
            <a:ext cx="2224682" cy="2560319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400" dirty="0">
                <a:solidFill>
                  <a:srgbClr val="00B05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Document Service Api</a:t>
            </a:r>
          </a:p>
          <a:p>
            <a:endParaRPr lang="en-GB" sz="1400" dirty="0">
              <a:solidFill>
                <a:srgbClr val="00B050"/>
              </a:solidFill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  <a:p>
            <a:pPr algn="ctr"/>
            <a:endParaRPr lang="en-GB" sz="1400" dirty="0">
              <a:solidFill>
                <a:srgbClr val="00B050"/>
              </a:solidFill>
            </a:endParaRPr>
          </a:p>
          <a:p>
            <a:pPr algn="ctr"/>
            <a:endParaRPr lang="en-GB" sz="1400" dirty="0">
              <a:solidFill>
                <a:srgbClr val="00B050"/>
              </a:solidFill>
            </a:endParaRPr>
          </a:p>
          <a:p>
            <a:pPr algn="ctr"/>
            <a:endParaRPr lang="en-GB" sz="1400" dirty="0">
              <a:solidFill>
                <a:srgbClr val="00B050"/>
              </a:solidFill>
            </a:endParaRPr>
          </a:p>
          <a:p>
            <a:pPr algn="ctr"/>
            <a:endParaRPr lang="en-GB" sz="1400" dirty="0">
              <a:solidFill>
                <a:srgbClr val="00B050"/>
              </a:solidFill>
            </a:endParaRPr>
          </a:p>
          <a:p>
            <a:pPr algn="ctr"/>
            <a:endParaRPr lang="en-GB" sz="1400" dirty="0">
              <a:solidFill>
                <a:srgbClr val="00B050"/>
              </a:solidFill>
            </a:endParaRPr>
          </a:p>
          <a:p>
            <a:pPr algn="ctr"/>
            <a:endParaRPr lang="en-GB" sz="1400" dirty="0">
              <a:solidFill>
                <a:srgbClr val="00B050"/>
              </a:solidFill>
            </a:endParaRPr>
          </a:p>
          <a:p>
            <a:pPr algn="ctr"/>
            <a:endParaRPr lang="en-GB" sz="1400" dirty="0">
              <a:solidFill>
                <a:srgbClr val="00B050"/>
              </a:solidFill>
            </a:endParaRPr>
          </a:p>
          <a:p>
            <a:pPr algn="ctr"/>
            <a:endParaRPr lang="en-GB" sz="1400" dirty="0">
              <a:solidFill>
                <a:srgbClr val="00B050"/>
              </a:solidFill>
            </a:endParaRPr>
          </a:p>
          <a:p>
            <a:pPr algn="ctr"/>
            <a:endParaRPr lang="en-GB" sz="1400" dirty="0">
              <a:solidFill>
                <a:srgbClr val="00B050"/>
              </a:solidFill>
            </a:endParaRPr>
          </a:p>
          <a:p>
            <a:pPr algn="ctr"/>
            <a:endParaRPr lang="en-GB" sz="1400" dirty="0">
              <a:solidFill>
                <a:srgbClr val="00B050"/>
              </a:solidFill>
            </a:endParaRPr>
          </a:p>
          <a:p>
            <a:pPr algn="ctr"/>
            <a:endParaRPr lang="en-GB" sz="1400" dirty="0">
              <a:solidFill>
                <a:srgbClr val="00B050"/>
              </a:solidFill>
            </a:endParaRPr>
          </a:p>
          <a:p>
            <a:pPr algn="ctr"/>
            <a:endParaRPr lang="en-GB" sz="1400" dirty="0">
              <a:solidFill>
                <a:srgbClr val="00B050"/>
              </a:solidFill>
            </a:endParaRPr>
          </a:p>
          <a:p>
            <a:pPr algn="ctr"/>
            <a:endParaRPr lang="en-GB" sz="1400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9C62A6-9521-0866-E2D5-6EDE363B93F4}"/>
              </a:ext>
            </a:extLst>
          </p:cNvPr>
          <p:cNvSpPr txBox="1"/>
          <p:nvPr/>
        </p:nvSpPr>
        <p:spPr>
          <a:xfrm>
            <a:off x="1265594" y="2815590"/>
            <a:ext cx="656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00B050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Upload file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508FC70-7BF4-4A1F-B2CC-480ED6D32E6C}"/>
              </a:ext>
            </a:extLst>
          </p:cNvPr>
          <p:cNvCxnSpPr>
            <a:cxnSpLocks/>
          </p:cNvCxnSpPr>
          <p:nvPr/>
        </p:nvCxnSpPr>
        <p:spPr>
          <a:xfrm flipH="1">
            <a:off x="1784350" y="4883150"/>
            <a:ext cx="707628" cy="69215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96A03B-5F3B-8BB7-A334-BFC5E6E1BE36}"/>
              </a:ext>
            </a:extLst>
          </p:cNvPr>
          <p:cNvSpPr/>
          <p:nvPr/>
        </p:nvSpPr>
        <p:spPr>
          <a:xfrm>
            <a:off x="1279128" y="5583648"/>
            <a:ext cx="746896" cy="671101"/>
          </a:xfrm>
          <a:prstGeom prst="rect">
            <a:avLst/>
          </a:prstGeom>
          <a:noFill/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8F4E457-F9B7-0743-73A7-840F2A3B64CC}"/>
              </a:ext>
            </a:extLst>
          </p:cNvPr>
          <p:cNvCxnSpPr>
            <a:cxnSpLocks/>
          </p:cNvCxnSpPr>
          <p:nvPr/>
        </p:nvCxnSpPr>
        <p:spPr>
          <a:xfrm>
            <a:off x="905312" y="4537075"/>
            <a:ext cx="641549" cy="1038225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Flowchart: Magnetic Disk 19">
            <a:extLst>
              <a:ext uri="{FF2B5EF4-FFF2-40B4-BE49-F238E27FC236}">
                <a16:creationId xmlns:a16="http://schemas.microsoft.com/office/drawing/2014/main" id="{9FD443CE-C0C3-323B-40A2-D082F7B216F5}"/>
              </a:ext>
            </a:extLst>
          </p:cNvPr>
          <p:cNvSpPr/>
          <p:nvPr/>
        </p:nvSpPr>
        <p:spPr>
          <a:xfrm>
            <a:off x="123326" y="3975100"/>
            <a:ext cx="1210224" cy="488950"/>
          </a:xfrm>
          <a:prstGeom prst="flowChartMagneticDisk">
            <a:avLst/>
          </a:prstGeom>
          <a:ln>
            <a:solidFill>
              <a:srgbClr val="00B05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Blob Storage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972C163-AE79-D944-C2BA-14888C7EC3F4}"/>
              </a:ext>
            </a:extLst>
          </p:cNvPr>
          <p:cNvCxnSpPr>
            <a:cxnSpLocks/>
          </p:cNvCxnSpPr>
          <p:nvPr/>
        </p:nvCxnSpPr>
        <p:spPr>
          <a:xfrm>
            <a:off x="1645920" y="6185647"/>
            <a:ext cx="992505" cy="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B774B0B-8A00-FDC7-A976-CDF0A4D15F62}"/>
              </a:ext>
            </a:extLst>
          </p:cNvPr>
          <p:cNvSpPr/>
          <p:nvPr/>
        </p:nvSpPr>
        <p:spPr>
          <a:xfrm>
            <a:off x="2159794" y="5583648"/>
            <a:ext cx="1327351" cy="692150"/>
          </a:xfrm>
          <a:prstGeom prst="rect">
            <a:avLst/>
          </a:prstGeom>
          <a:noFill/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B08B75A-0208-C693-0812-71F2E1715C1A}"/>
              </a:ext>
            </a:extLst>
          </p:cNvPr>
          <p:cNvCxnSpPr>
            <a:cxnSpLocks/>
          </p:cNvCxnSpPr>
          <p:nvPr/>
        </p:nvCxnSpPr>
        <p:spPr>
          <a:xfrm flipH="1" flipV="1">
            <a:off x="3238500" y="4678680"/>
            <a:ext cx="106680" cy="904968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9C19A4C-7A3B-8BE9-F444-D7EF3ACB9021}"/>
              </a:ext>
            </a:extLst>
          </p:cNvPr>
          <p:cNvSpPr/>
          <p:nvPr/>
        </p:nvSpPr>
        <p:spPr>
          <a:xfrm>
            <a:off x="822960" y="4942200"/>
            <a:ext cx="5533015" cy="1486633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400" dirty="0">
                <a:solidFill>
                  <a:srgbClr val="00B050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				</a:t>
            </a:r>
            <a:r>
              <a:rPr lang="en-GB" sz="1400" dirty="0">
                <a:solidFill>
                  <a:srgbClr val="00B05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AI Service</a:t>
            </a:r>
          </a:p>
          <a:p>
            <a:pPr algn="ctr"/>
            <a:endParaRPr lang="en-GB" sz="1400" dirty="0">
              <a:solidFill>
                <a:srgbClr val="00B050"/>
              </a:solidFill>
            </a:endParaRPr>
          </a:p>
          <a:p>
            <a:pPr algn="ctr"/>
            <a:endParaRPr lang="en-GB" sz="1400" dirty="0">
              <a:solidFill>
                <a:srgbClr val="00B050"/>
              </a:solidFill>
            </a:endParaRPr>
          </a:p>
          <a:p>
            <a:pPr algn="ctr"/>
            <a:endParaRPr lang="en-GB" sz="1400" dirty="0">
              <a:solidFill>
                <a:srgbClr val="00B050"/>
              </a:solidFill>
            </a:endParaRPr>
          </a:p>
          <a:p>
            <a:pPr algn="ctr"/>
            <a:endParaRPr lang="en-GB" sz="1400" dirty="0">
              <a:solidFill>
                <a:srgbClr val="00B050"/>
              </a:solidFill>
            </a:endParaRPr>
          </a:p>
          <a:p>
            <a:pPr algn="ctr"/>
            <a:endParaRPr lang="en-GB" sz="1400" dirty="0">
              <a:solidFill>
                <a:srgbClr val="00B050"/>
              </a:solidFill>
            </a:endParaRPr>
          </a:p>
          <a:p>
            <a:pPr algn="ctr"/>
            <a:endParaRPr lang="en-GB" sz="1400" dirty="0">
              <a:solidFill>
                <a:srgbClr val="00B050"/>
              </a:solidFill>
            </a:endParaRPr>
          </a:p>
          <a:p>
            <a:pPr algn="ctr"/>
            <a:endParaRPr lang="en-GB" sz="1400" dirty="0">
              <a:solidFill>
                <a:srgbClr val="00B050"/>
              </a:solidFill>
            </a:endParaRPr>
          </a:p>
          <a:p>
            <a:pPr algn="ctr"/>
            <a:endParaRPr lang="en-GB" sz="1400" dirty="0">
              <a:solidFill>
                <a:srgbClr val="00B050"/>
              </a:solidFill>
            </a:endParaRPr>
          </a:p>
          <a:p>
            <a:pPr algn="ctr"/>
            <a:endParaRPr lang="en-GB" sz="1400" dirty="0">
              <a:solidFill>
                <a:srgbClr val="00B050"/>
              </a:solidFill>
            </a:endParaRPr>
          </a:p>
        </p:txBody>
      </p:sp>
      <p:sp>
        <p:nvSpPr>
          <p:cNvPr id="24" name="Speech Bubble: Oval 23">
            <a:extLst>
              <a:ext uri="{FF2B5EF4-FFF2-40B4-BE49-F238E27FC236}">
                <a16:creationId xmlns:a16="http://schemas.microsoft.com/office/drawing/2014/main" id="{4C08F1ED-571C-5449-B76F-18A160569BF8}"/>
              </a:ext>
            </a:extLst>
          </p:cNvPr>
          <p:cNvSpPr/>
          <p:nvPr/>
        </p:nvSpPr>
        <p:spPr>
          <a:xfrm>
            <a:off x="7102497" y="4517343"/>
            <a:ext cx="2485373" cy="546100"/>
          </a:xfrm>
          <a:prstGeom prst="wedgeEllipseCallout">
            <a:avLst>
              <a:gd name="adj1" fmla="val -204998"/>
              <a:gd name="adj2" fmla="val -68"/>
            </a:avLst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6"/>
                </a:solidFill>
              </a:rPr>
              <a:t>doc-processed</a:t>
            </a:r>
          </a:p>
        </p:txBody>
      </p:sp>
      <p:sp>
        <p:nvSpPr>
          <p:cNvPr id="26" name="Speech Bubble: Oval 25">
            <a:extLst>
              <a:ext uri="{FF2B5EF4-FFF2-40B4-BE49-F238E27FC236}">
                <a16:creationId xmlns:a16="http://schemas.microsoft.com/office/drawing/2014/main" id="{B1EE40D8-E0A8-A01B-B7B9-C4452B588DE6}"/>
              </a:ext>
            </a:extLst>
          </p:cNvPr>
          <p:cNvSpPr/>
          <p:nvPr/>
        </p:nvSpPr>
        <p:spPr>
          <a:xfrm>
            <a:off x="7351141" y="3794759"/>
            <a:ext cx="2485373" cy="546100"/>
          </a:xfrm>
          <a:prstGeom prst="wedgeEllipseCallout">
            <a:avLst>
              <a:gd name="adj1" fmla="val -239625"/>
              <a:gd name="adj2" fmla="val 29480"/>
            </a:avLst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6"/>
                </a:solidFill>
              </a:rPr>
              <a:t>doc-uploaded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6EA9E6-7484-9FDC-3D67-EEEE91F7A863}"/>
              </a:ext>
            </a:extLst>
          </p:cNvPr>
          <p:cNvSpPr/>
          <p:nvPr/>
        </p:nvSpPr>
        <p:spPr>
          <a:xfrm>
            <a:off x="3433407" y="1285120"/>
            <a:ext cx="2922568" cy="729100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400" dirty="0">
                <a:solidFill>
                  <a:srgbClr val="00B05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Coming soon - UI</a:t>
            </a:r>
            <a:endParaRPr lang="en-GB" sz="1400" dirty="0">
              <a:solidFill>
                <a:srgbClr val="00B050"/>
              </a:solidFill>
            </a:endParaRPr>
          </a:p>
          <a:p>
            <a:pPr algn="ctr"/>
            <a:endParaRPr lang="en-GB" sz="1400" dirty="0">
              <a:solidFill>
                <a:srgbClr val="00B050"/>
              </a:solidFill>
            </a:endParaRPr>
          </a:p>
          <a:p>
            <a:pPr algn="ctr"/>
            <a:endParaRPr lang="en-GB" sz="1400" dirty="0">
              <a:solidFill>
                <a:srgbClr val="00B050"/>
              </a:solidFill>
            </a:endParaRPr>
          </a:p>
          <a:p>
            <a:pPr algn="ctr"/>
            <a:endParaRPr lang="en-GB" sz="1400" dirty="0">
              <a:solidFill>
                <a:srgbClr val="00B050"/>
              </a:solidFill>
            </a:endParaRPr>
          </a:p>
          <a:p>
            <a:pPr algn="ctr"/>
            <a:endParaRPr lang="en-GB" sz="1400" dirty="0">
              <a:solidFill>
                <a:srgbClr val="00B050"/>
              </a:solidFill>
            </a:endParaRPr>
          </a:p>
          <a:p>
            <a:pPr algn="ctr"/>
            <a:endParaRPr lang="en-GB" sz="1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248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9" grpId="0" animBg="1"/>
      <p:bldP spid="2" grpId="0" uiExpand="1" build="allAtOnce" animBg="1"/>
      <p:bldP spid="2" grpId="1" build="allAtOnce" animBg="1" rev="1"/>
      <p:bldP spid="3" grpId="0"/>
      <p:bldP spid="6" grpId="0" animBg="1"/>
      <p:bldP spid="20" grpId="0" animBg="1"/>
      <p:bldP spid="12" grpId="0" animBg="1"/>
      <p:bldP spid="23" grpId="0" build="allAtOnce" animBg="1"/>
      <p:bldP spid="23" grpId="1" build="allAtOnce" animBg="1" rev="1"/>
      <p:bldP spid="24" grpId="0" animBg="1"/>
      <p:bldP spid="24" grpId="1" animBg="1"/>
      <p:bldP spid="26" grpId="0" animBg="1"/>
      <p:bldP spid="26" grpId="1" animBg="1"/>
      <p:bldP spid="10" grpId="1" uiExpand="1" build="allAtOnce" animBg="1" rev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34664D4-8D77-77AB-1172-54242141456A}"/>
              </a:ext>
            </a:extLst>
          </p:cNvPr>
          <p:cNvSpPr txBox="1"/>
          <p:nvPr/>
        </p:nvSpPr>
        <p:spPr>
          <a:xfrm>
            <a:off x="2940424" y="1891553"/>
            <a:ext cx="56656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493236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A3C44-B071-1818-A129-716F930F9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 spec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E8297-D3C0-B8C4-7AD8-58ECA31A1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IDEs</a:t>
            </a:r>
          </a:p>
          <a:p>
            <a:pPr lvl="1"/>
            <a:r>
              <a:rPr lang="en-GB" dirty="0"/>
              <a:t>VS code</a:t>
            </a:r>
          </a:p>
          <a:p>
            <a:pPr lvl="1"/>
            <a:r>
              <a:rPr lang="en-GB" dirty="0"/>
              <a:t>Visual Studio</a:t>
            </a:r>
          </a:p>
          <a:p>
            <a:r>
              <a:rPr lang="en-GB" dirty="0"/>
              <a:t>Containerization of microservices</a:t>
            </a:r>
          </a:p>
          <a:p>
            <a:pPr lvl="1"/>
            <a:r>
              <a:rPr lang="en-GB" dirty="0"/>
              <a:t>Docker containers (Docker desktop (on Windows))</a:t>
            </a:r>
          </a:p>
          <a:p>
            <a:pPr lvl="1"/>
            <a:r>
              <a:rPr lang="en-GB" dirty="0"/>
              <a:t>RabbitMQ</a:t>
            </a:r>
          </a:p>
          <a:p>
            <a:pPr lvl="1"/>
            <a:r>
              <a:rPr lang="en-GB" dirty="0"/>
              <a:t>Azurite (Blob Storage Solution)</a:t>
            </a:r>
          </a:p>
          <a:p>
            <a:r>
              <a:rPr lang="en-GB" dirty="0"/>
              <a:t>Blob Explorer</a:t>
            </a:r>
          </a:p>
          <a:p>
            <a:pPr lvl="1"/>
            <a:r>
              <a:rPr lang="en-GB" dirty="0"/>
              <a:t>Microsoft Azure Storage Explorer</a:t>
            </a:r>
          </a:p>
          <a:p>
            <a:r>
              <a:rPr lang="en-GB" dirty="0"/>
              <a:t>AI tools used</a:t>
            </a:r>
          </a:p>
          <a:p>
            <a:pPr lvl="1"/>
            <a:r>
              <a:rPr lang="en-GB" dirty="0"/>
              <a:t>ChatGPT online</a:t>
            </a:r>
          </a:p>
          <a:p>
            <a:pPr lvl="1"/>
            <a:r>
              <a:rPr lang="en-GB" dirty="0"/>
              <a:t>Claude Code</a:t>
            </a:r>
          </a:p>
          <a:p>
            <a:pPr lvl="1"/>
            <a:r>
              <a:rPr lang="en-GB" dirty="0"/>
              <a:t>GitHub Copilot in VS code</a:t>
            </a:r>
          </a:p>
        </p:txBody>
      </p:sp>
    </p:spTree>
    <p:extLst>
      <p:ext uri="{BB962C8B-B14F-4D97-AF65-F5344CB8AC3E}">
        <p14:creationId xmlns:p14="http://schemas.microsoft.com/office/powerpoint/2010/main" val="155570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C24E7-B615-57DB-2DF0-123361EFC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Roadmap for running the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5A4D4-31BE-17E5-1BF0-32DA190D0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Development</a:t>
            </a:r>
          </a:p>
          <a:p>
            <a:pPr lvl="1"/>
            <a:r>
              <a:rPr lang="en-GB" dirty="0"/>
              <a:t>Docker Desktop (on Windows)</a:t>
            </a:r>
          </a:p>
          <a:p>
            <a:pPr lvl="1"/>
            <a:r>
              <a:rPr lang="en-GB" dirty="0"/>
              <a:t>Azurite (Blob)</a:t>
            </a:r>
          </a:p>
          <a:p>
            <a:r>
              <a:rPr lang="en-GB" dirty="0"/>
              <a:t>Stage/Live</a:t>
            </a:r>
          </a:p>
          <a:p>
            <a:pPr lvl="1"/>
            <a:r>
              <a:rPr lang="en-GB" dirty="0"/>
              <a:t>Azure</a:t>
            </a:r>
          </a:p>
          <a:p>
            <a:pPr lvl="1"/>
            <a:r>
              <a:rPr lang="en-GB" dirty="0"/>
              <a:t>Cross the bridge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1281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D33B3-52EB-2407-8D20-94B516389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Development Environment (dev computer)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2317D-885E-B906-37FF-1DCCE7D83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0442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92B70-9E43-C098-7EAA-03AE87433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Live environment (Azure)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95AEA-D98D-C7D5-1DEA-2988114F2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4109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</Words>
  <Application>Microsoft Office PowerPoint</Application>
  <PresentationFormat>Widescreen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DocFlow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Tech spec used</vt:lpstr>
      <vt:lpstr>Roadmap for running the app</vt:lpstr>
      <vt:lpstr>Development Environment (dev computer)</vt:lpstr>
      <vt:lpstr>Live environment (Azure)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vinay kalasannavar</dc:creator>
  <cp:lastModifiedBy>vinay kalasannavar</cp:lastModifiedBy>
  <cp:revision>217</cp:revision>
  <dcterms:created xsi:type="dcterms:W3CDTF">2026-05-21T10:49:38Z</dcterms:created>
  <dcterms:modified xsi:type="dcterms:W3CDTF">2026-07-09T13:41:49Z</dcterms:modified>
</cp:coreProperties>
</file>