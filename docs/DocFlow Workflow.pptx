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61" r:id="rId4"/>
    <p:sldId id="257" r:id="rId5"/>
    <p:sldId id="259" r:id="rId6"/>
    <p:sldId id="258" r:id="rId7"/>
    <p:sldId id="263" r:id="rId8"/>
    <p:sldId id="266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78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2310" y="11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B69968-3CBD-A0E2-D4EA-35C93B91EE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F9538AA-FE57-9417-10A6-0B8837A9297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B3CF25-0056-CF34-0200-C0C83B47DB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6855C-4451-4D51-9C19-AA57B9F05DC3}" type="datetimeFigureOut">
              <a:rPr lang="en-GB" smtClean="0"/>
              <a:t>15/06/2026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D7D76B-BC19-968E-C0F6-09421A69B6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8119C0-A788-F7F9-2EC2-95CDF0A0E9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9C41F4-C28B-42FF-898F-15757FEB021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899094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93C184-C35B-7FEE-7733-20D87D357D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F06BBC-4743-41CE-4964-8DC53383E7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D66A50-EDD9-A0E1-349E-2580CBC8ED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6855C-4451-4D51-9C19-AA57B9F05DC3}" type="datetimeFigureOut">
              <a:rPr lang="en-GB" smtClean="0"/>
              <a:t>15/06/2026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9B4639-8916-E648-2C09-BA3219971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0DB74C-44B5-6B7A-BA31-4A4A3F0DD1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9C41F4-C28B-42FF-898F-15757FEB021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243996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722DBB-B16A-8952-817E-065331BCFB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BEC29E-B059-0A9D-C4C0-C309CC2F33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2E4028-F82B-4BD2-B1C0-AE276CBB41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6855C-4451-4D51-9C19-AA57B9F05DC3}" type="datetimeFigureOut">
              <a:rPr lang="en-GB" smtClean="0"/>
              <a:t>15/06/2026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19BE9F-8B63-3D33-1D9D-4D6C19DA69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7A8F63-FE01-8738-95AC-B21622DAC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9C41F4-C28B-42FF-898F-15757FEB021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358376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D0D58B-1532-FDEC-5E47-8420E64D20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9286F6-1BEE-FED9-59E2-61D4C3094B5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E319055-83A8-83FF-447F-8DA5A51722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E5022C-18BF-CDA4-9024-0D2060279C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6855C-4451-4D51-9C19-AA57B9F05DC3}" type="datetimeFigureOut">
              <a:rPr lang="en-GB" smtClean="0"/>
              <a:t>15/06/2026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3F4E0B-64F3-55D4-1618-0A5E2A8A84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DCC5B10-8A8C-50A4-AA28-AACD63B16D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9C41F4-C28B-42FF-898F-15757FEB021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64940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CEFBD8-61BB-264C-EBC6-53C3266424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B15500-5111-2756-017C-8E38FDEF81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D1E0E83-EE76-D2BB-09D8-BD37F89F5E0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90238B8-9F2C-C8D1-F7F1-30988356814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444849B-CBA7-1F44-675B-6A570833A9E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13A94E2-53AC-ED70-6219-40556D193C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6855C-4451-4D51-9C19-AA57B9F05DC3}" type="datetimeFigureOut">
              <a:rPr lang="en-GB" smtClean="0"/>
              <a:t>15/06/2026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6696188-492F-9C17-C63B-9C434449C1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DD1A864-3B6D-2F53-55F3-E931D8D724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9C41F4-C28B-42FF-898F-15757FEB021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456272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E4DE87-0E0A-4D54-4E7E-E41B6A95E1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8D4B26B-D827-539E-BC2B-AAA4BC5247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6855C-4451-4D51-9C19-AA57B9F05DC3}" type="datetimeFigureOut">
              <a:rPr lang="en-GB" smtClean="0"/>
              <a:t>15/06/2026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97AB6F3-B541-CFDE-ABBB-1826155F98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C1ACCF-CE58-62F9-EC19-B843F6BA1F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9C41F4-C28B-42FF-898F-15757FEB021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78633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2DFF616-A7C6-0035-EA85-4992F707CD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6855C-4451-4D51-9C19-AA57B9F05DC3}" type="datetimeFigureOut">
              <a:rPr lang="en-GB" smtClean="0"/>
              <a:t>15/06/2026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CE9B26-43ED-3B3E-704D-564842F8F2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E67554-ED3D-0CA4-21DE-12472A60A0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9C41F4-C28B-42FF-898F-15757FEB021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537306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217830-702A-2240-AF3A-838E970F94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750C4B-C922-D994-57B3-34753A8ACF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5B79E69-B460-98B6-E598-BD288B8A90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E7EB8F-8898-6755-2259-F7F438A476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6855C-4451-4D51-9C19-AA57B9F05DC3}" type="datetimeFigureOut">
              <a:rPr lang="en-GB" smtClean="0"/>
              <a:t>15/06/2026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EA7C49-4EDB-82F4-EE03-09C9A817E2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339F662-9489-BF84-B779-FCF9C81920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9C41F4-C28B-42FF-898F-15757FEB021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62336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C0FF16-9597-CFAA-7669-7FDB922E59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97043B2-E479-3DE0-C69C-F8D44C24571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C6208FF-F4A0-6532-326A-7E0EC63FA36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DA3A16F-CBD2-66D0-A2D9-88660B6211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6855C-4451-4D51-9C19-AA57B9F05DC3}" type="datetimeFigureOut">
              <a:rPr lang="en-GB" smtClean="0"/>
              <a:t>15/06/2026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FBCE45E-95FF-163F-12BC-95D211B9D6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BFD567A-C9EC-A87E-58C6-5318370E26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9C41F4-C28B-42FF-898F-15757FEB021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883206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C663AF-5ADE-37B2-DA5F-26F529628C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94E1407-8D12-67C4-E261-459F58677A9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018BCD-B124-CA6F-D354-C91CCBCF18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6855C-4451-4D51-9C19-AA57B9F05DC3}" type="datetimeFigureOut">
              <a:rPr lang="en-GB" smtClean="0"/>
              <a:t>15/06/2026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5E0BF6-CD51-202C-C88B-FFD92E9554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76F8DB-E7A5-DE7F-2525-AF5794D048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9C41F4-C28B-42FF-898F-15757FEB021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037214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AA20B3F-B6FE-6945-A244-81416219C4C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19C80C7-E902-711D-EA33-062E73F8336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DD2FFF-7466-E4DD-BED5-D4EA3278DF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6855C-4451-4D51-9C19-AA57B9F05DC3}" type="datetimeFigureOut">
              <a:rPr lang="en-GB" smtClean="0"/>
              <a:t>15/06/2026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BE67D6-94A8-8779-37FD-8B453735DA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9ED121-1DAE-0494-EE06-C46EE27819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49C41F4-C28B-42FF-898F-15757FEB021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570358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8DB2619-05E8-AA8C-C013-CE100097E5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E21113-7AD3-E020-B2C2-F4B261A355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BA94BB-4DFB-9DD6-6028-5E9801B736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E6855C-4451-4D51-9C19-AA57B9F05DC3}" type="datetimeFigureOut">
              <a:rPr lang="en-GB" smtClean="0"/>
              <a:t>15/06/2026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BE763B-55E0-A98F-3601-BA6723D4076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C33BEA-8598-C79D-3F98-B41E413E9B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49C41F4-C28B-42FF-898F-15757FEB021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65032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DAA6E8-E0D3-1A6E-1235-6E902EC0467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DocFlow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214592C-5569-FB8B-9F46-4B39D795E20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AI-powered document processing platform.</a:t>
            </a:r>
          </a:p>
        </p:txBody>
      </p:sp>
    </p:spTree>
    <p:extLst>
      <p:ext uri="{BB962C8B-B14F-4D97-AF65-F5344CB8AC3E}">
        <p14:creationId xmlns:p14="http://schemas.microsoft.com/office/powerpoint/2010/main" val="17706652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25B37A0-7538-3BB9-10C0-6839B71AFE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090" y="2227946"/>
            <a:ext cx="10521820" cy="2402107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AAA6CA72-78E4-E023-407C-02410FC7B0A4}"/>
              </a:ext>
            </a:extLst>
          </p:cNvPr>
          <p:cNvSpPr/>
          <p:nvPr/>
        </p:nvSpPr>
        <p:spPr>
          <a:xfrm>
            <a:off x="923365" y="2348753"/>
            <a:ext cx="1909482" cy="2281300"/>
          </a:xfrm>
          <a:prstGeom prst="rect">
            <a:avLst/>
          </a:prstGeom>
          <a:noFill/>
          <a:ln>
            <a:solidFill>
              <a:srgbClr val="00B050"/>
            </a:solidFill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8AE7716-C058-CA77-2D38-66481DDF13ED}"/>
              </a:ext>
            </a:extLst>
          </p:cNvPr>
          <p:cNvSpPr/>
          <p:nvPr/>
        </p:nvSpPr>
        <p:spPr>
          <a:xfrm>
            <a:off x="3012142" y="2348751"/>
            <a:ext cx="1909482" cy="2281300"/>
          </a:xfrm>
          <a:prstGeom prst="rect">
            <a:avLst/>
          </a:prstGeom>
          <a:noFill/>
          <a:ln>
            <a:solidFill>
              <a:srgbClr val="00B050"/>
            </a:solidFill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D5D475E-591A-CB6A-D518-C9600F24EDAC}"/>
              </a:ext>
            </a:extLst>
          </p:cNvPr>
          <p:cNvSpPr/>
          <p:nvPr/>
        </p:nvSpPr>
        <p:spPr>
          <a:xfrm>
            <a:off x="5130924" y="2348751"/>
            <a:ext cx="1909482" cy="2281300"/>
          </a:xfrm>
          <a:prstGeom prst="rect">
            <a:avLst/>
          </a:prstGeom>
          <a:noFill/>
          <a:ln>
            <a:solidFill>
              <a:srgbClr val="00B050"/>
            </a:solidFill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E0334F5-CA0A-758A-D128-0639F77F5572}"/>
              </a:ext>
            </a:extLst>
          </p:cNvPr>
          <p:cNvSpPr/>
          <p:nvPr/>
        </p:nvSpPr>
        <p:spPr>
          <a:xfrm>
            <a:off x="7234723" y="2348751"/>
            <a:ext cx="1909482" cy="2281300"/>
          </a:xfrm>
          <a:prstGeom prst="rect">
            <a:avLst/>
          </a:prstGeom>
          <a:noFill/>
          <a:ln>
            <a:solidFill>
              <a:srgbClr val="00B050"/>
            </a:solidFill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A097478-AA77-C057-ED00-C78DC96E7A0F}"/>
              </a:ext>
            </a:extLst>
          </p:cNvPr>
          <p:cNvSpPr/>
          <p:nvPr/>
        </p:nvSpPr>
        <p:spPr>
          <a:xfrm>
            <a:off x="9359153" y="2348751"/>
            <a:ext cx="1909482" cy="2281300"/>
          </a:xfrm>
          <a:prstGeom prst="rect">
            <a:avLst/>
          </a:prstGeom>
          <a:noFill/>
          <a:ln>
            <a:solidFill>
              <a:srgbClr val="00B050"/>
            </a:solidFill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B7D3404-2EFE-A8F1-BA2F-D5F3D3E709CA}"/>
              </a:ext>
            </a:extLst>
          </p:cNvPr>
          <p:cNvSpPr txBox="1"/>
          <p:nvPr/>
        </p:nvSpPr>
        <p:spPr>
          <a:xfrm>
            <a:off x="918883" y="516396"/>
            <a:ext cx="60960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Many documents!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dirty="0">
                <a:latin typeface="Arial" panose="020B0604020202020204" pitchFamily="34" charset="0"/>
              </a:rPr>
              <a:t>Many types of documents!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-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Candidate CVs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-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Invoices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-"/>
              <a:tabLst/>
            </a:pPr>
            <a:r>
              <a:rPr lang="en-US" altLang="en-US" dirty="0">
                <a:latin typeface="Arial" panose="020B0604020202020204" pitchFamily="34" charset="0"/>
              </a:rPr>
              <a:t>Contracts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&quot;Not Allowed&quot; Symbol 2">
            <a:extLst>
              <a:ext uri="{FF2B5EF4-FFF2-40B4-BE49-F238E27FC236}">
                <a16:creationId xmlns:a16="http://schemas.microsoft.com/office/drawing/2014/main" id="{16F8347D-C880-C29E-1B2B-84893529CAD8}"/>
              </a:ext>
            </a:extLst>
          </p:cNvPr>
          <p:cNvSpPr/>
          <p:nvPr/>
        </p:nvSpPr>
        <p:spPr>
          <a:xfrm>
            <a:off x="3408030" y="1255060"/>
            <a:ext cx="4132730" cy="4151549"/>
          </a:xfrm>
          <a:prstGeom prst="noSmoking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400" dirty="0">
                <a:solidFill>
                  <a:schemeClr val="tx1"/>
                </a:solidFill>
                <a:highlight>
                  <a:srgbClr val="FF0000"/>
                </a:highlight>
                <a:latin typeface="Arial" panose="020B0604020202020204" pitchFamily="34" charset="0"/>
              </a:rPr>
              <a:t>Problems!</a:t>
            </a: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altLang="en-US" sz="1400" dirty="0">
                <a:solidFill>
                  <a:schemeClr val="tx1"/>
                </a:solidFill>
                <a:highlight>
                  <a:srgbClr val="FF0000"/>
                </a:highlight>
                <a:latin typeface="Arial" panose="020B0604020202020204" pitchFamily="34" charset="0"/>
              </a:rPr>
              <a:t>slow </a:t>
            </a: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altLang="en-US" sz="1400" dirty="0">
                <a:solidFill>
                  <a:schemeClr val="tx1"/>
                </a:solidFill>
                <a:highlight>
                  <a:srgbClr val="FF0000"/>
                </a:highlight>
                <a:latin typeface="Arial" panose="020B0604020202020204" pitchFamily="34" charset="0"/>
              </a:rPr>
              <a:t>expensive </a:t>
            </a: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altLang="en-US" sz="1400" dirty="0">
                <a:solidFill>
                  <a:schemeClr val="tx1"/>
                </a:solidFill>
                <a:highlight>
                  <a:srgbClr val="FF0000"/>
                </a:highlight>
                <a:latin typeface="Arial" panose="020B0604020202020204" pitchFamily="34" charset="0"/>
              </a:rPr>
              <a:t>inconsistent </a:t>
            </a:r>
            <a:endParaRPr lang="en-US" altLang="en-US" sz="1400" dirty="0">
              <a:highlight>
                <a:srgbClr val="FF0000"/>
              </a:highlight>
              <a:latin typeface="Arial" panose="020B0604020202020204" pitchFamily="34" charset="0"/>
            </a:endParaRP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en-US" altLang="en-US" sz="1400" dirty="0">
                <a:solidFill>
                  <a:schemeClr val="tx1"/>
                </a:solidFill>
                <a:highlight>
                  <a:srgbClr val="FF0000"/>
                </a:highlight>
                <a:latin typeface="Arial" panose="020B0604020202020204" pitchFamily="34" charset="0"/>
              </a:rPr>
              <a:t>impossible to scale efficiently </a:t>
            </a:r>
          </a:p>
          <a:p>
            <a:pPr lvl="1" algn="ctr"/>
            <a:endParaRPr lang="en-GB" sz="1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29257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" dur="500"/>
                                        <p:tgtEl>
                                          <p:spTgt spid="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" dur="500"/>
                                        <p:tgtEl>
                                          <p:spTgt spid="1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" dur="500"/>
                                        <p:tgtEl>
                                          <p:spTgt spid="1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" dur="500"/>
                                        <p:tgtEl>
                                          <p:spTgt spid="1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6" presetClass="emph" presetSubtype="0" repeatCount="5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1" dur="1000" tmFilter="0, 0; .2, .5; .8, .5; 1, 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82" dur="500" autoRev="1" fill="hold"/>
                                        <p:tgtEl>
                                          <p:spTgt spid="5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8" grpId="1" animBg="1"/>
      <p:bldP spid="11" grpId="0" animBg="1"/>
      <p:bldP spid="11" grpId="1" animBg="1"/>
      <p:bldP spid="12" grpId="0" animBg="1"/>
      <p:bldP spid="12" grpId="1" animBg="1"/>
      <p:bldP spid="13" grpId="0" animBg="1"/>
      <p:bldP spid="13" grpId="1" animBg="1"/>
      <p:bldP spid="15" grpId="0" animBg="1"/>
      <p:bldP spid="15" grpId="1" animBg="1"/>
      <p:bldP spid="17" grpId="0" uiExpand="1" build="allAtOnce"/>
      <p:bldP spid="3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AutoShape 3" descr="DocFlow AI platform architecture diagram">
            <a:extLst>
              <a:ext uri="{FF2B5EF4-FFF2-40B4-BE49-F238E27FC236}">
                <a16:creationId xmlns:a16="http://schemas.microsoft.com/office/drawing/2014/main" id="{C13343F6-53D3-C9E5-7265-2C97359B1A7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07F442D7-C84A-E362-EDE5-8A1F8EA46F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4B176379-ECF1-8DD3-CD40-8C23E5BF9D43}"/>
              </a:ext>
            </a:extLst>
          </p:cNvPr>
          <p:cNvSpPr/>
          <p:nvPr/>
        </p:nvSpPr>
        <p:spPr>
          <a:xfrm>
            <a:off x="923365" y="1030941"/>
            <a:ext cx="1909482" cy="3935506"/>
          </a:xfrm>
          <a:prstGeom prst="rect">
            <a:avLst/>
          </a:prstGeom>
          <a:noFill/>
          <a:ln>
            <a:solidFill>
              <a:srgbClr val="00B050"/>
            </a:solidFill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D4BA9A5-1B98-A940-19DA-7F1DC0A9EBB1}"/>
              </a:ext>
            </a:extLst>
          </p:cNvPr>
          <p:cNvSpPr/>
          <p:nvPr/>
        </p:nvSpPr>
        <p:spPr>
          <a:xfrm>
            <a:off x="2985247" y="1030942"/>
            <a:ext cx="1757082" cy="3935505"/>
          </a:xfrm>
          <a:prstGeom prst="rect">
            <a:avLst/>
          </a:prstGeom>
          <a:noFill/>
          <a:ln>
            <a:solidFill>
              <a:srgbClr val="00B050"/>
            </a:solidFill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B5AB62C-A14E-9D25-8292-347831BB0278}"/>
              </a:ext>
            </a:extLst>
          </p:cNvPr>
          <p:cNvSpPr/>
          <p:nvPr/>
        </p:nvSpPr>
        <p:spPr>
          <a:xfrm>
            <a:off x="4491318" y="1030942"/>
            <a:ext cx="1757082" cy="3935505"/>
          </a:xfrm>
          <a:prstGeom prst="rect">
            <a:avLst/>
          </a:prstGeom>
          <a:noFill/>
          <a:ln>
            <a:solidFill>
              <a:srgbClr val="00B050"/>
            </a:solidFill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397B2ED-82A1-F3E7-BE40-50872E2874DE}"/>
              </a:ext>
            </a:extLst>
          </p:cNvPr>
          <p:cNvSpPr/>
          <p:nvPr/>
        </p:nvSpPr>
        <p:spPr>
          <a:xfrm>
            <a:off x="5997389" y="1030942"/>
            <a:ext cx="1757082" cy="3935505"/>
          </a:xfrm>
          <a:prstGeom prst="rect">
            <a:avLst/>
          </a:prstGeom>
          <a:noFill/>
          <a:ln>
            <a:solidFill>
              <a:srgbClr val="00B050"/>
            </a:solidFill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A932094-881E-1FB8-7345-BAEBA19C8822}"/>
              </a:ext>
            </a:extLst>
          </p:cNvPr>
          <p:cNvSpPr/>
          <p:nvPr/>
        </p:nvSpPr>
        <p:spPr>
          <a:xfrm>
            <a:off x="7503460" y="1013011"/>
            <a:ext cx="1757082" cy="3935505"/>
          </a:xfrm>
          <a:prstGeom prst="rect">
            <a:avLst/>
          </a:prstGeom>
          <a:noFill/>
          <a:ln>
            <a:solidFill>
              <a:srgbClr val="00B050"/>
            </a:solidFill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AF07554-6FBC-D290-A3BF-F1986A99F033}"/>
              </a:ext>
            </a:extLst>
          </p:cNvPr>
          <p:cNvSpPr/>
          <p:nvPr/>
        </p:nvSpPr>
        <p:spPr>
          <a:xfrm>
            <a:off x="9356913" y="1013011"/>
            <a:ext cx="1757082" cy="3935505"/>
          </a:xfrm>
          <a:prstGeom prst="rect">
            <a:avLst/>
          </a:prstGeom>
          <a:noFill/>
          <a:ln>
            <a:solidFill>
              <a:srgbClr val="00B050"/>
            </a:solidFill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384F277-4340-BD56-E501-9762E1D4930E}"/>
              </a:ext>
            </a:extLst>
          </p:cNvPr>
          <p:cNvSpPr/>
          <p:nvPr/>
        </p:nvSpPr>
        <p:spPr>
          <a:xfrm>
            <a:off x="2911290" y="941293"/>
            <a:ext cx="6232710" cy="4733366"/>
          </a:xfrm>
          <a:prstGeom prst="rect">
            <a:avLst/>
          </a:prstGeom>
          <a:noFill/>
          <a:ln>
            <a:solidFill>
              <a:srgbClr val="00B050"/>
            </a:solidFill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65132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4" grpId="1" animBg="1"/>
      <p:bldP spid="15" grpId="0" animBg="1"/>
      <p:bldP spid="15" grpId="1" animBg="1"/>
      <p:bldP spid="16" grpId="0" animBg="1"/>
      <p:bldP spid="16" grpId="1" animBg="1"/>
      <p:bldP spid="17" grpId="0" animBg="1"/>
      <p:bldP spid="17" grpId="1" animBg="1"/>
      <p:bldP spid="18" grpId="0" animBg="1"/>
      <p:bldP spid="18" grpId="1" animBg="1"/>
      <p:bldP spid="19" grpId="0" animBg="1"/>
      <p:bldP spid="19" grpId="1" animBg="1"/>
      <p:bldP spid="20" grpId="0" animBg="1"/>
      <p:bldP spid="20" grpId="1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08C82DE-DC2D-29E0-703B-0C69752B40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8493" y="480601"/>
            <a:ext cx="9955014" cy="5896798"/>
          </a:xfrm>
          <a:prstGeom prst="rect">
            <a:avLst/>
          </a:prstGeom>
        </p:spPr>
      </p:pic>
      <p:sp>
        <p:nvSpPr>
          <p:cNvPr id="35" name="Rectangle 34">
            <a:extLst>
              <a:ext uri="{FF2B5EF4-FFF2-40B4-BE49-F238E27FC236}">
                <a16:creationId xmlns:a16="http://schemas.microsoft.com/office/drawing/2014/main" id="{7127275F-3837-8344-78CA-FAB8AF69CA64}"/>
              </a:ext>
            </a:extLst>
          </p:cNvPr>
          <p:cNvSpPr/>
          <p:nvPr/>
        </p:nvSpPr>
        <p:spPr>
          <a:xfrm>
            <a:off x="3543300" y="1365250"/>
            <a:ext cx="1638300" cy="615950"/>
          </a:xfrm>
          <a:prstGeom prst="rect">
            <a:avLst/>
          </a:prstGeom>
          <a:noFill/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FA8AA3A8-A9F7-555C-F3B4-F10485EDD0A3}"/>
              </a:ext>
            </a:extLst>
          </p:cNvPr>
          <p:cNvCxnSpPr>
            <a:cxnSpLocks/>
          </p:cNvCxnSpPr>
          <p:nvPr/>
        </p:nvCxnSpPr>
        <p:spPr>
          <a:xfrm>
            <a:off x="4323557" y="1924050"/>
            <a:ext cx="0" cy="411956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42" name="Rectangle 41">
            <a:extLst>
              <a:ext uri="{FF2B5EF4-FFF2-40B4-BE49-F238E27FC236}">
                <a16:creationId xmlns:a16="http://schemas.microsoft.com/office/drawing/2014/main" id="{3E6EE427-D70E-EE4B-848D-77D80EFF6F6C}"/>
              </a:ext>
            </a:extLst>
          </p:cNvPr>
          <p:cNvSpPr/>
          <p:nvPr/>
        </p:nvSpPr>
        <p:spPr>
          <a:xfrm>
            <a:off x="3504406" y="2232025"/>
            <a:ext cx="1677193" cy="492125"/>
          </a:xfrm>
          <a:prstGeom prst="rect">
            <a:avLst/>
          </a:prstGeom>
          <a:noFill/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1C156119-6E95-C221-7B07-A28A0AA12233}"/>
              </a:ext>
            </a:extLst>
          </p:cNvPr>
          <p:cNvCxnSpPr>
            <a:cxnSpLocks/>
          </p:cNvCxnSpPr>
          <p:nvPr/>
        </p:nvCxnSpPr>
        <p:spPr>
          <a:xfrm flipH="1">
            <a:off x="2540000" y="2724150"/>
            <a:ext cx="1783557" cy="615950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53" name="Rectangle 52">
            <a:extLst>
              <a:ext uri="{FF2B5EF4-FFF2-40B4-BE49-F238E27FC236}">
                <a16:creationId xmlns:a16="http://schemas.microsoft.com/office/drawing/2014/main" id="{D0F8EBBB-201C-8536-CAE6-AA45DEC3AA7F}"/>
              </a:ext>
            </a:extLst>
          </p:cNvPr>
          <p:cNvSpPr/>
          <p:nvPr/>
        </p:nvSpPr>
        <p:spPr>
          <a:xfrm>
            <a:off x="1548606" y="3359150"/>
            <a:ext cx="1708944" cy="615950"/>
          </a:xfrm>
          <a:prstGeom prst="rect">
            <a:avLst/>
          </a:prstGeom>
          <a:noFill/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C6A3473D-5F0F-77B0-0365-410C993BAF03}"/>
              </a:ext>
            </a:extLst>
          </p:cNvPr>
          <p:cNvCxnSpPr>
            <a:cxnSpLocks/>
          </p:cNvCxnSpPr>
          <p:nvPr/>
        </p:nvCxnSpPr>
        <p:spPr>
          <a:xfrm>
            <a:off x="2540000" y="3852863"/>
            <a:ext cx="0" cy="591308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59" name="Rectangle 58">
            <a:extLst>
              <a:ext uri="{FF2B5EF4-FFF2-40B4-BE49-F238E27FC236}">
                <a16:creationId xmlns:a16="http://schemas.microsoft.com/office/drawing/2014/main" id="{14A8CCA2-8D1E-2C33-4059-4EFA97DA683A}"/>
              </a:ext>
            </a:extLst>
          </p:cNvPr>
          <p:cNvSpPr/>
          <p:nvPr/>
        </p:nvSpPr>
        <p:spPr>
          <a:xfrm>
            <a:off x="1637506" y="4394200"/>
            <a:ext cx="1708944" cy="488950"/>
          </a:xfrm>
          <a:prstGeom prst="rect">
            <a:avLst/>
          </a:prstGeom>
          <a:noFill/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0CAFE1EE-2782-3CCA-EDC7-FE390C4612EE}"/>
              </a:ext>
            </a:extLst>
          </p:cNvPr>
          <p:cNvCxnSpPr>
            <a:cxnSpLocks/>
            <a:stCxn id="59" idx="2"/>
          </p:cNvCxnSpPr>
          <p:nvPr/>
        </p:nvCxnSpPr>
        <p:spPr>
          <a:xfrm flipH="1">
            <a:off x="1784350" y="4883150"/>
            <a:ext cx="707628" cy="692150"/>
          </a:xfrm>
          <a:prstGeom prst="straightConnector1">
            <a:avLst/>
          </a:prstGeom>
          <a:ln>
            <a:solidFill>
              <a:srgbClr val="00B050"/>
            </a:solidFill>
            <a:prstDash val="dash"/>
            <a:tailEnd type="triangle"/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61" name="Rectangle 60">
            <a:extLst>
              <a:ext uri="{FF2B5EF4-FFF2-40B4-BE49-F238E27FC236}">
                <a16:creationId xmlns:a16="http://schemas.microsoft.com/office/drawing/2014/main" id="{C5F8E3C2-9714-F48C-6C5F-6EA007A0F230}"/>
              </a:ext>
            </a:extLst>
          </p:cNvPr>
          <p:cNvSpPr/>
          <p:nvPr/>
        </p:nvSpPr>
        <p:spPr>
          <a:xfrm>
            <a:off x="1279128" y="5583648"/>
            <a:ext cx="917972" cy="671101"/>
          </a:xfrm>
          <a:prstGeom prst="rect">
            <a:avLst/>
          </a:prstGeom>
          <a:noFill/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5FA8D3E8-FB7C-325A-D9B6-344A6E01DCCC}"/>
              </a:ext>
            </a:extLst>
          </p:cNvPr>
          <p:cNvCxnSpPr>
            <a:cxnSpLocks/>
          </p:cNvCxnSpPr>
          <p:nvPr/>
        </p:nvCxnSpPr>
        <p:spPr>
          <a:xfrm>
            <a:off x="1948070" y="1620078"/>
            <a:ext cx="1556336" cy="0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0D6FFE14-1BCF-F269-4F87-B32AE0ACD065}"/>
              </a:ext>
            </a:extLst>
          </p:cNvPr>
          <p:cNvSpPr txBox="1"/>
          <p:nvPr/>
        </p:nvSpPr>
        <p:spPr>
          <a:xfrm>
            <a:off x="1877270" y="1312301"/>
            <a:ext cx="122941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>
                <a:solidFill>
                  <a:srgbClr val="00B050"/>
                </a:solidFill>
                <a:effectLst>
                  <a:glow rad="635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Upload File</a:t>
            </a:r>
          </a:p>
        </p:txBody>
      </p:sp>
      <p:sp>
        <p:nvSpPr>
          <p:cNvPr id="70" name="Flowchart: Magnetic Disk 69">
            <a:extLst>
              <a:ext uri="{FF2B5EF4-FFF2-40B4-BE49-F238E27FC236}">
                <a16:creationId xmlns:a16="http://schemas.microsoft.com/office/drawing/2014/main" id="{8ECDA26B-8D9C-0316-D640-D7B206F4B32A}"/>
              </a:ext>
            </a:extLst>
          </p:cNvPr>
          <p:cNvSpPr/>
          <p:nvPr/>
        </p:nvSpPr>
        <p:spPr>
          <a:xfrm>
            <a:off x="123326" y="3975100"/>
            <a:ext cx="1210224" cy="488950"/>
          </a:xfrm>
          <a:prstGeom prst="flowChartMagneticDisk">
            <a:avLst/>
          </a:prstGeom>
          <a:ln>
            <a:solidFill>
              <a:srgbClr val="00B050"/>
            </a:solidFill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1200" dirty="0"/>
              <a:t>Blob Storage</a:t>
            </a:r>
          </a:p>
        </p:txBody>
      </p: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E61C68A4-DC18-EA91-E0EF-98EEB1891CFF}"/>
              </a:ext>
            </a:extLst>
          </p:cNvPr>
          <p:cNvCxnSpPr>
            <a:cxnSpLocks/>
          </p:cNvCxnSpPr>
          <p:nvPr/>
        </p:nvCxnSpPr>
        <p:spPr>
          <a:xfrm flipH="1">
            <a:off x="1333550" y="3806687"/>
            <a:ext cx="543720" cy="427968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8AC7DA54-C07B-C477-8B5C-E8F2683FA605}"/>
              </a:ext>
            </a:extLst>
          </p:cNvPr>
          <p:cNvCxnSpPr>
            <a:cxnSpLocks/>
          </p:cNvCxnSpPr>
          <p:nvPr/>
        </p:nvCxnSpPr>
        <p:spPr>
          <a:xfrm>
            <a:off x="905312" y="4537075"/>
            <a:ext cx="641549" cy="1038225"/>
          </a:xfrm>
          <a:prstGeom prst="straightConnector1">
            <a:avLst/>
          </a:prstGeom>
          <a:ln>
            <a:solidFill>
              <a:srgbClr val="00B050"/>
            </a:solidFill>
            <a:prstDash val="dash"/>
            <a:tailEnd type="triangle"/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05C55EE9-FF0C-41BD-553D-2460A49FD8F7}"/>
              </a:ext>
            </a:extLst>
          </p:cNvPr>
          <p:cNvSpPr/>
          <p:nvPr/>
        </p:nvSpPr>
        <p:spPr>
          <a:xfrm>
            <a:off x="713677" y="5056187"/>
            <a:ext cx="7605569" cy="1321212"/>
          </a:xfrm>
          <a:prstGeom prst="rect">
            <a:avLst/>
          </a:prstGeom>
          <a:noFill/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GB" dirty="0">
                <a:solidFill>
                  <a:schemeClr val="accent6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				AI Services</a:t>
            </a:r>
          </a:p>
        </p:txBody>
      </p:sp>
    </p:spTree>
    <p:extLst>
      <p:ext uri="{BB962C8B-B14F-4D97-AF65-F5344CB8AC3E}">
        <p14:creationId xmlns:p14="http://schemas.microsoft.com/office/powerpoint/2010/main" val="18657672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 animBg="1"/>
      <p:bldP spid="42" grpId="0" animBg="1"/>
      <p:bldP spid="53" grpId="0" animBg="1"/>
      <p:bldP spid="59" grpId="0" animBg="1"/>
      <p:bldP spid="61" grpId="0" animBg="1"/>
      <p:bldP spid="68" grpId="0"/>
      <p:bldP spid="70" grpId="0" animBg="1"/>
      <p:bldP spid="2" grpId="0" animBg="1"/>
      <p:bldP spid="2" grpId="1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CCA489-2506-6394-F82E-029174069C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B7CFFC4-5FE3-758B-AEDC-C8B083060D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8493" y="435330"/>
            <a:ext cx="9955014" cy="5896798"/>
          </a:xfrm>
          <a:prstGeom prst="rect">
            <a:avLst/>
          </a:prstGeom>
        </p:spPr>
      </p:pic>
      <p:cxnSp>
        <p:nvCxnSpPr>
          <p:cNvPr id="7" name="Connector: Elbow 6">
            <a:extLst>
              <a:ext uri="{FF2B5EF4-FFF2-40B4-BE49-F238E27FC236}">
                <a16:creationId xmlns:a16="http://schemas.microsoft.com/office/drawing/2014/main" id="{9A2EDBBE-8229-DF9A-0177-B35716AC2BAF}"/>
              </a:ext>
            </a:extLst>
          </p:cNvPr>
          <p:cNvCxnSpPr>
            <a:cxnSpLocks/>
          </p:cNvCxnSpPr>
          <p:nvPr/>
        </p:nvCxnSpPr>
        <p:spPr>
          <a:xfrm>
            <a:off x="822960" y="2842260"/>
            <a:ext cx="929640" cy="601980"/>
          </a:xfrm>
          <a:prstGeom prst="bentConnector3">
            <a:avLst/>
          </a:prstGeom>
          <a:ln>
            <a:solidFill>
              <a:srgbClr val="00B050"/>
            </a:solidFill>
            <a:tailEnd type="triangle"/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1F56BC3B-A749-E817-B29C-3CE0E8045EC7}"/>
              </a:ext>
            </a:extLst>
          </p:cNvPr>
          <p:cNvSpPr/>
          <p:nvPr/>
        </p:nvSpPr>
        <p:spPr>
          <a:xfrm>
            <a:off x="320040" y="2514600"/>
            <a:ext cx="876300" cy="601980"/>
          </a:xfrm>
          <a:prstGeom prst="rect">
            <a:avLst/>
          </a:prstGeom>
          <a:ln>
            <a:solidFill>
              <a:srgbClr val="00B050"/>
            </a:solidFill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1400" dirty="0"/>
              <a:t>Swagger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65295A31-528E-39F7-57D6-5EB3DC83BC17}"/>
              </a:ext>
            </a:extLst>
          </p:cNvPr>
          <p:cNvCxnSpPr/>
          <p:nvPr/>
        </p:nvCxnSpPr>
        <p:spPr>
          <a:xfrm>
            <a:off x="1714500" y="3831431"/>
            <a:ext cx="445294" cy="0"/>
          </a:xfrm>
          <a:prstGeom prst="line">
            <a:avLst/>
          </a:prstGeom>
          <a:ln>
            <a:solidFill>
              <a:srgbClr val="00B050"/>
            </a:solidFill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3013F08-68D6-AFEC-9276-74DF78E7333F}"/>
              </a:ext>
            </a:extLst>
          </p:cNvPr>
          <p:cNvCxnSpPr>
            <a:cxnSpLocks/>
          </p:cNvCxnSpPr>
          <p:nvPr/>
        </p:nvCxnSpPr>
        <p:spPr>
          <a:xfrm>
            <a:off x="2352675" y="3840956"/>
            <a:ext cx="585788" cy="0"/>
          </a:xfrm>
          <a:prstGeom prst="line">
            <a:avLst/>
          </a:prstGeom>
          <a:ln>
            <a:solidFill>
              <a:srgbClr val="00B050"/>
            </a:solidFill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5152159-1E0D-8803-D01E-1BC36B504BD2}"/>
              </a:ext>
            </a:extLst>
          </p:cNvPr>
          <p:cNvCxnSpPr>
            <a:cxnSpLocks/>
          </p:cNvCxnSpPr>
          <p:nvPr/>
        </p:nvCxnSpPr>
        <p:spPr>
          <a:xfrm>
            <a:off x="2638425" y="3840956"/>
            <a:ext cx="0" cy="626269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033B0C5C-A6D4-BDDA-4DEA-CB16D992DAB5}"/>
              </a:ext>
            </a:extLst>
          </p:cNvPr>
          <p:cNvSpPr/>
          <p:nvPr/>
        </p:nvSpPr>
        <p:spPr>
          <a:xfrm>
            <a:off x="1645920" y="4457701"/>
            <a:ext cx="1699260" cy="411474"/>
          </a:xfrm>
          <a:prstGeom prst="rect">
            <a:avLst/>
          </a:prstGeom>
          <a:noFill/>
          <a:ln>
            <a:solidFill>
              <a:srgbClr val="00B050"/>
            </a:solidFill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E27334E9-D871-5D68-DBB8-6E7DC3DD11FE}"/>
              </a:ext>
            </a:extLst>
          </p:cNvPr>
          <p:cNvCxnSpPr>
            <a:cxnSpLocks/>
          </p:cNvCxnSpPr>
          <p:nvPr/>
        </p:nvCxnSpPr>
        <p:spPr>
          <a:xfrm flipH="1">
            <a:off x="1355725" y="3867150"/>
            <a:ext cx="520145" cy="247650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0D01D312-82C0-C52F-7032-C90D5EAD0A97}"/>
              </a:ext>
            </a:extLst>
          </p:cNvPr>
          <p:cNvCxnSpPr>
            <a:cxnSpLocks/>
          </p:cNvCxnSpPr>
          <p:nvPr/>
        </p:nvCxnSpPr>
        <p:spPr>
          <a:xfrm rot="10800000">
            <a:off x="1287785" y="2644140"/>
            <a:ext cx="1650679" cy="1120140"/>
          </a:xfrm>
          <a:prstGeom prst="bentConnector3">
            <a:avLst>
              <a:gd name="adj1" fmla="val -9550"/>
            </a:avLst>
          </a:prstGeom>
          <a:ln>
            <a:solidFill>
              <a:srgbClr val="00B050"/>
            </a:solidFill>
            <a:tailEnd type="triangle"/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8F649D45-7818-8655-EDF6-136207192F33}"/>
              </a:ext>
            </a:extLst>
          </p:cNvPr>
          <p:cNvSpPr/>
          <p:nvPr/>
        </p:nvSpPr>
        <p:spPr>
          <a:xfrm>
            <a:off x="1219557" y="2514600"/>
            <a:ext cx="2224682" cy="2560319"/>
          </a:xfrm>
          <a:prstGeom prst="rect">
            <a:avLst/>
          </a:prstGeom>
          <a:noFill/>
          <a:ln>
            <a:solidFill>
              <a:srgbClr val="00B050"/>
            </a:solidFill>
          </a:ln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GB" sz="1400" dirty="0">
                <a:solidFill>
                  <a:srgbClr val="00B05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Document Service Api</a:t>
            </a:r>
          </a:p>
          <a:p>
            <a:endParaRPr lang="en-GB" sz="1400" dirty="0">
              <a:solidFill>
                <a:srgbClr val="00B050"/>
              </a:solidFill>
              <a:effectLst>
                <a:glow rad="63500">
                  <a:schemeClr val="accent4">
                    <a:satMod val="175000"/>
                    <a:alpha val="40000"/>
                  </a:schemeClr>
                </a:glow>
              </a:effectLst>
            </a:endParaRPr>
          </a:p>
          <a:p>
            <a:pPr algn="ctr"/>
            <a:endParaRPr lang="en-GB" sz="1400" dirty="0">
              <a:solidFill>
                <a:srgbClr val="00B050"/>
              </a:solidFill>
            </a:endParaRPr>
          </a:p>
          <a:p>
            <a:pPr algn="ctr"/>
            <a:endParaRPr lang="en-GB" sz="1400" dirty="0">
              <a:solidFill>
                <a:srgbClr val="00B050"/>
              </a:solidFill>
            </a:endParaRPr>
          </a:p>
          <a:p>
            <a:pPr algn="ctr"/>
            <a:endParaRPr lang="en-GB" sz="1400" dirty="0">
              <a:solidFill>
                <a:srgbClr val="00B050"/>
              </a:solidFill>
            </a:endParaRPr>
          </a:p>
          <a:p>
            <a:pPr algn="ctr"/>
            <a:endParaRPr lang="en-GB" sz="1400" dirty="0">
              <a:solidFill>
                <a:srgbClr val="00B050"/>
              </a:solidFill>
            </a:endParaRPr>
          </a:p>
          <a:p>
            <a:pPr algn="ctr"/>
            <a:endParaRPr lang="en-GB" sz="1400" dirty="0">
              <a:solidFill>
                <a:srgbClr val="00B050"/>
              </a:solidFill>
            </a:endParaRPr>
          </a:p>
          <a:p>
            <a:pPr algn="ctr"/>
            <a:endParaRPr lang="en-GB" sz="1400" dirty="0">
              <a:solidFill>
                <a:srgbClr val="00B050"/>
              </a:solidFill>
            </a:endParaRPr>
          </a:p>
          <a:p>
            <a:pPr algn="ctr"/>
            <a:endParaRPr lang="en-GB" sz="1400" dirty="0">
              <a:solidFill>
                <a:srgbClr val="00B050"/>
              </a:solidFill>
            </a:endParaRPr>
          </a:p>
          <a:p>
            <a:pPr algn="ctr"/>
            <a:endParaRPr lang="en-GB" sz="1400" dirty="0">
              <a:solidFill>
                <a:srgbClr val="00B050"/>
              </a:solidFill>
            </a:endParaRPr>
          </a:p>
          <a:p>
            <a:pPr algn="ctr"/>
            <a:endParaRPr lang="en-GB" sz="1400" dirty="0">
              <a:solidFill>
                <a:srgbClr val="00B050"/>
              </a:solidFill>
            </a:endParaRPr>
          </a:p>
          <a:p>
            <a:pPr algn="ctr"/>
            <a:endParaRPr lang="en-GB" sz="1400" dirty="0">
              <a:solidFill>
                <a:srgbClr val="00B050"/>
              </a:solidFill>
            </a:endParaRPr>
          </a:p>
          <a:p>
            <a:pPr algn="ctr"/>
            <a:endParaRPr lang="en-GB" sz="1400" dirty="0">
              <a:solidFill>
                <a:srgbClr val="00B050"/>
              </a:solidFill>
            </a:endParaRPr>
          </a:p>
          <a:p>
            <a:pPr algn="ctr"/>
            <a:endParaRPr lang="en-GB" sz="1400" dirty="0">
              <a:solidFill>
                <a:srgbClr val="00B050"/>
              </a:solidFill>
            </a:endParaRPr>
          </a:p>
          <a:p>
            <a:pPr algn="ctr"/>
            <a:endParaRPr lang="en-GB" sz="1400" dirty="0">
              <a:solidFill>
                <a:srgbClr val="00B050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89C62A6-9521-0866-E2D5-6EDE363B93F4}"/>
              </a:ext>
            </a:extLst>
          </p:cNvPr>
          <p:cNvSpPr txBox="1"/>
          <p:nvPr/>
        </p:nvSpPr>
        <p:spPr>
          <a:xfrm>
            <a:off x="1265594" y="2815590"/>
            <a:ext cx="65631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200" dirty="0">
                <a:solidFill>
                  <a:srgbClr val="00B050"/>
                </a:solidFill>
                <a:effectLst>
                  <a:glow rad="635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Upload file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9508FC70-7BF4-4A1F-B2CC-480ED6D32E6C}"/>
              </a:ext>
            </a:extLst>
          </p:cNvPr>
          <p:cNvCxnSpPr>
            <a:cxnSpLocks/>
          </p:cNvCxnSpPr>
          <p:nvPr/>
        </p:nvCxnSpPr>
        <p:spPr>
          <a:xfrm flipH="1">
            <a:off x="1784350" y="4883150"/>
            <a:ext cx="707628" cy="692150"/>
          </a:xfrm>
          <a:prstGeom prst="straightConnector1">
            <a:avLst/>
          </a:prstGeom>
          <a:ln>
            <a:solidFill>
              <a:srgbClr val="00B050"/>
            </a:solidFill>
            <a:prstDash val="dash"/>
            <a:tailEnd type="triangle"/>
          </a:ln>
          <a:effectLst>
            <a:glow rad="228600">
              <a:schemeClr val="accent2">
                <a:satMod val="175000"/>
                <a:alpha val="40000"/>
              </a:schemeClr>
            </a:glow>
          </a:effectLst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3E96A03B-5F3B-8BB7-A334-BFC5E6E1BE36}"/>
              </a:ext>
            </a:extLst>
          </p:cNvPr>
          <p:cNvSpPr/>
          <p:nvPr/>
        </p:nvSpPr>
        <p:spPr>
          <a:xfrm>
            <a:off x="1279128" y="5583648"/>
            <a:ext cx="746896" cy="671101"/>
          </a:xfrm>
          <a:prstGeom prst="rect">
            <a:avLst/>
          </a:prstGeom>
          <a:noFill/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18F4E457-F9B7-0743-73A7-840F2A3B64CC}"/>
              </a:ext>
            </a:extLst>
          </p:cNvPr>
          <p:cNvCxnSpPr>
            <a:cxnSpLocks/>
          </p:cNvCxnSpPr>
          <p:nvPr/>
        </p:nvCxnSpPr>
        <p:spPr>
          <a:xfrm>
            <a:off x="905312" y="4537075"/>
            <a:ext cx="641549" cy="1038225"/>
          </a:xfrm>
          <a:prstGeom prst="straightConnector1">
            <a:avLst/>
          </a:prstGeom>
          <a:ln>
            <a:solidFill>
              <a:srgbClr val="00B050"/>
            </a:solidFill>
            <a:prstDash val="dash"/>
            <a:tailEnd type="triangle"/>
          </a:ln>
          <a:effectLst>
            <a:glow rad="228600">
              <a:schemeClr val="accent2">
                <a:satMod val="175000"/>
                <a:alpha val="40000"/>
              </a:schemeClr>
            </a:glow>
          </a:effectLst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0" name="Flowchart: Magnetic Disk 19">
            <a:extLst>
              <a:ext uri="{FF2B5EF4-FFF2-40B4-BE49-F238E27FC236}">
                <a16:creationId xmlns:a16="http://schemas.microsoft.com/office/drawing/2014/main" id="{9FD443CE-C0C3-323B-40A2-D082F7B216F5}"/>
              </a:ext>
            </a:extLst>
          </p:cNvPr>
          <p:cNvSpPr/>
          <p:nvPr/>
        </p:nvSpPr>
        <p:spPr>
          <a:xfrm>
            <a:off x="123326" y="3975100"/>
            <a:ext cx="1210224" cy="488950"/>
          </a:xfrm>
          <a:prstGeom prst="flowChartMagneticDisk">
            <a:avLst/>
          </a:prstGeom>
          <a:ln>
            <a:solidFill>
              <a:srgbClr val="00B050"/>
            </a:solidFill>
          </a:ln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1200" dirty="0"/>
              <a:t>Blob Storage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F972C163-AE79-D944-C2BA-14888C7EC3F4}"/>
              </a:ext>
            </a:extLst>
          </p:cNvPr>
          <p:cNvCxnSpPr>
            <a:cxnSpLocks/>
          </p:cNvCxnSpPr>
          <p:nvPr/>
        </p:nvCxnSpPr>
        <p:spPr>
          <a:xfrm>
            <a:off x="1645920" y="6185647"/>
            <a:ext cx="992505" cy="0"/>
          </a:xfrm>
          <a:prstGeom prst="straightConnector1">
            <a:avLst/>
          </a:prstGeom>
          <a:ln>
            <a:solidFill>
              <a:srgbClr val="00B050"/>
            </a:solidFill>
            <a:prstDash val="dash"/>
            <a:tailEnd type="triangle"/>
          </a:ln>
          <a:effectLst>
            <a:glow rad="228600">
              <a:schemeClr val="accent2">
                <a:satMod val="175000"/>
                <a:alpha val="40000"/>
              </a:schemeClr>
            </a:glow>
          </a:effectLst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EB774B0B-8A00-FDC7-A976-CDF0A4D15F62}"/>
              </a:ext>
            </a:extLst>
          </p:cNvPr>
          <p:cNvSpPr/>
          <p:nvPr/>
        </p:nvSpPr>
        <p:spPr>
          <a:xfrm>
            <a:off x="2159794" y="5583648"/>
            <a:ext cx="1327351" cy="692150"/>
          </a:xfrm>
          <a:prstGeom prst="rect">
            <a:avLst/>
          </a:prstGeom>
          <a:noFill/>
          <a:effectLst>
            <a:glow rad="635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B08B75A-0208-C693-0812-71F2E1715C1A}"/>
              </a:ext>
            </a:extLst>
          </p:cNvPr>
          <p:cNvCxnSpPr>
            <a:cxnSpLocks/>
          </p:cNvCxnSpPr>
          <p:nvPr/>
        </p:nvCxnSpPr>
        <p:spPr>
          <a:xfrm flipH="1" flipV="1">
            <a:off x="3238500" y="4678680"/>
            <a:ext cx="106680" cy="904968"/>
          </a:xfrm>
          <a:prstGeom prst="straightConnector1">
            <a:avLst/>
          </a:prstGeom>
          <a:ln>
            <a:solidFill>
              <a:srgbClr val="00B050"/>
            </a:solidFill>
            <a:prstDash val="dash"/>
            <a:tailEnd type="triangle"/>
          </a:ln>
          <a:effectLst>
            <a:glow rad="228600">
              <a:schemeClr val="accent2">
                <a:satMod val="175000"/>
                <a:alpha val="40000"/>
              </a:schemeClr>
            </a:glow>
          </a:effectLst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3" name="Rectangle 22">
            <a:extLst>
              <a:ext uri="{FF2B5EF4-FFF2-40B4-BE49-F238E27FC236}">
                <a16:creationId xmlns:a16="http://schemas.microsoft.com/office/drawing/2014/main" id="{89C19A4C-7A3B-8BE9-F444-D7EF3ACB9021}"/>
              </a:ext>
            </a:extLst>
          </p:cNvPr>
          <p:cNvSpPr/>
          <p:nvPr/>
        </p:nvSpPr>
        <p:spPr>
          <a:xfrm>
            <a:off x="822960" y="4942200"/>
            <a:ext cx="5533015" cy="1486633"/>
          </a:xfrm>
          <a:prstGeom prst="rect">
            <a:avLst/>
          </a:prstGeom>
          <a:noFill/>
          <a:ln>
            <a:solidFill>
              <a:srgbClr val="00B050"/>
            </a:solidFill>
          </a:ln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GB" sz="1400" dirty="0">
                <a:solidFill>
                  <a:srgbClr val="00B050"/>
                </a:solidFill>
                <a:effectLst>
                  <a:glow rad="635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				</a:t>
            </a:r>
            <a:r>
              <a:rPr lang="en-GB" sz="1400" dirty="0">
                <a:solidFill>
                  <a:srgbClr val="00B05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AI Service</a:t>
            </a:r>
          </a:p>
          <a:p>
            <a:pPr algn="ctr"/>
            <a:endParaRPr lang="en-GB" sz="1400" dirty="0">
              <a:solidFill>
                <a:srgbClr val="00B050"/>
              </a:solidFill>
            </a:endParaRPr>
          </a:p>
          <a:p>
            <a:pPr algn="ctr"/>
            <a:endParaRPr lang="en-GB" sz="1400" dirty="0">
              <a:solidFill>
                <a:srgbClr val="00B050"/>
              </a:solidFill>
            </a:endParaRPr>
          </a:p>
          <a:p>
            <a:pPr algn="ctr"/>
            <a:endParaRPr lang="en-GB" sz="1400" dirty="0">
              <a:solidFill>
                <a:srgbClr val="00B050"/>
              </a:solidFill>
            </a:endParaRPr>
          </a:p>
          <a:p>
            <a:pPr algn="ctr"/>
            <a:endParaRPr lang="en-GB" sz="1400" dirty="0">
              <a:solidFill>
                <a:srgbClr val="00B050"/>
              </a:solidFill>
            </a:endParaRPr>
          </a:p>
          <a:p>
            <a:pPr algn="ctr"/>
            <a:endParaRPr lang="en-GB" sz="1400" dirty="0">
              <a:solidFill>
                <a:srgbClr val="00B050"/>
              </a:solidFill>
            </a:endParaRPr>
          </a:p>
          <a:p>
            <a:pPr algn="ctr"/>
            <a:endParaRPr lang="en-GB" sz="1400" dirty="0">
              <a:solidFill>
                <a:srgbClr val="00B050"/>
              </a:solidFill>
            </a:endParaRPr>
          </a:p>
          <a:p>
            <a:pPr algn="ctr"/>
            <a:endParaRPr lang="en-GB" sz="1400" dirty="0">
              <a:solidFill>
                <a:srgbClr val="00B050"/>
              </a:solidFill>
            </a:endParaRPr>
          </a:p>
          <a:p>
            <a:pPr algn="ctr"/>
            <a:endParaRPr lang="en-GB" sz="1400" dirty="0">
              <a:solidFill>
                <a:srgbClr val="00B050"/>
              </a:solidFill>
            </a:endParaRPr>
          </a:p>
          <a:p>
            <a:pPr algn="ctr"/>
            <a:endParaRPr lang="en-GB" sz="1400" dirty="0">
              <a:solidFill>
                <a:srgbClr val="00B050"/>
              </a:solidFill>
            </a:endParaRPr>
          </a:p>
        </p:txBody>
      </p:sp>
      <p:sp>
        <p:nvSpPr>
          <p:cNvPr id="24" name="Speech Bubble: Oval 23">
            <a:extLst>
              <a:ext uri="{FF2B5EF4-FFF2-40B4-BE49-F238E27FC236}">
                <a16:creationId xmlns:a16="http://schemas.microsoft.com/office/drawing/2014/main" id="{4C08F1ED-571C-5449-B76F-18A160569BF8}"/>
              </a:ext>
            </a:extLst>
          </p:cNvPr>
          <p:cNvSpPr/>
          <p:nvPr/>
        </p:nvSpPr>
        <p:spPr>
          <a:xfrm>
            <a:off x="7102497" y="4517343"/>
            <a:ext cx="2485373" cy="546100"/>
          </a:xfrm>
          <a:prstGeom prst="wedgeEllipseCallout">
            <a:avLst>
              <a:gd name="adj1" fmla="val -204998"/>
              <a:gd name="adj2" fmla="val -68"/>
            </a:avLst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accent6"/>
                </a:solidFill>
              </a:rPr>
              <a:t>doc-processed</a:t>
            </a:r>
          </a:p>
        </p:txBody>
      </p:sp>
      <p:sp>
        <p:nvSpPr>
          <p:cNvPr id="26" name="Speech Bubble: Oval 25">
            <a:extLst>
              <a:ext uri="{FF2B5EF4-FFF2-40B4-BE49-F238E27FC236}">
                <a16:creationId xmlns:a16="http://schemas.microsoft.com/office/drawing/2014/main" id="{B1EE40D8-E0A8-A01B-B7B9-C4452B588DE6}"/>
              </a:ext>
            </a:extLst>
          </p:cNvPr>
          <p:cNvSpPr/>
          <p:nvPr/>
        </p:nvSpPr>
        <p:spPr>
          <a:xfrm>
            <a:off x="7351141" y="3794759"/>
            <a:ext cx="2485373" cy="546100"/>
          </a:xfrm>
          <a:prstGeom prst="wedgeEllipseCallout">
            <a:avLst>
              <a:gd name="adj1" fmla="val -239625"/>
              <a:gd name="adj2" fmla="val 29480"/>
            </a:avLst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accent6"/>
                </a:solidFill>
              </a:rPr>
              <a:t>doc-uploaded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46EA9E6-7484-9FDC-3D67-EEEE91F7A863}"/>
              </a:ext>
            </a:extLst>
          </p:cNvPr>
          <p:cNvSpPr/>
          <p:nvPr/>
        </p:nvSpPr>
        <p:spPr>
          <a:xfrm>
            <a:off x="3433407" y="1285120"/>
            <a:ext cx="2922568" cy="729100"/>
          </a:xfrm>
          <a:prstGeom prst="rect">
            <a:avLst/>
          </a:prstGeom>
          <a:noFill/>
          <a:ln>
            <a:solidFill>
              <a:srgbClr val="00B050"/>
            </a:solidFill>
          </a:ln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GB" sz="1400" dirty="0">
                <a:solidFill>
                  <a:srgbClr val="00B05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Coming soon - UI</a:t>
            </a:r>
            <a:endParaRPr lang="en-GB" sz="1400" dirty="0">
              <a:solidFill>
                <a:srgbClr val="00B050"/>
              </a:solidFill>
            </a:endParaRPr>
          </a:p>
          <a:p>
            <a:pPr algn="ctr"/>
            <a:endParaRPr lang="en-GB" sz="1400" dirty="0">
              <a:solidFill>
                <a:srgbClr val="00B050"/>
              </a:solidFill>
            </a:endParaRPr>
          </a:p>
          <a:p>
            <a:pPr algn="ctr"/>
            <a:endParaRPr lang="en-GB" sz="1400" dirty="0">
              <a:solidFill>
                <a:srgbClr val="00B050"/>
              </a:solidFill>
            </a:endParaRPr>
          </a:p>
          <a:p>
            <a:pPr algn="ctr"/>
            <a:endParaRPr lang="en-GB" sz="1400" dirty="0">
              <a:solidFill>
                <a:srgbClr val="00B050"/>
              </a:solidFill>
            </a:endParaRPr>
          </a:p>
          <a:p>
            <a:pPr algn="ctr"/>
            <a:endParaRPr lang="en-GB" sz="1400" dirty="0">
              <a:solidFill>
                <a:srgbClr val="00B050"/>
              </a:solidFill>
            </a:endParaRPr>
          </a:p>
          <a:p>
            <a:pPr algn="ctr"/>
            <a:endParaRPr lang="en-GB" sz="1400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602482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2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23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" dur="500"/>
                                        <p:tgtEl>
                                          <p:spTgt spid="2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" dur="500"/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" dur="500"/>
                                        <p:tgtEl>
                                          <p:spTgt spid="23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8" fill="hold">
                            <p:stCondLst>
                              <p:cond delay="500"/>
                            </p:stCondLst>
                            <p:childTnLst>
                              <p:par>
                                <p:cTn id="79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1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8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22" presetClass="entr" presetSubtype="4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22" presetClass="entr" presetSubtype="4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1" fill="hold">
                      <p:stCondLst>
                        <p:cond delay="indefinite"/>
                      </p:stCondLst>
                      <p:childTnLst>
                        <p:par>
                          <p:cTn id="102" fill="hold">
                            <p:stCondLst>
                              <p:cond delay="0"/>
                            </p:stCondLst>
                            <p:childTnLst>
                              <p:par>
                                <p:cTn id="10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6" fill="hold">
                      <p:stCondLst>
                        <p:cond delay="indefinite"/>
                      </p:stCondLst>
                      <p:childTnLst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4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6" fill="hold">
                      <p:stCondLst>
                        <p:cond delay="indefinite"/>
                      </p:stCondLst>
                      <p:childTnLst>
                        <p:par>
                          <p:cTn id="117" fill="hold">
                            <p:stCondLst>
                              <p:cond delay="0"/>
                            </p:stCondLst>
                            <p:childTnLst>
                              <p:par>
                                <p:cTn id="118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1000"/>
                                        <p:tgtEl>
                                          <p:spTgt spid="10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9" grpId="0" animBg="1"/>
      <p:bldP spid="2" grpId="0" uiExpand="1" build="allAtOnce" animBg="1"/>
      <p:bldP spid="2" grpId="1" build="allAtOnce" animBg="1" rev="1"/>
      <p:bldP spid="3" grpId="0"/>
      <p:bldP spid="6" grpId="0" animBg="1"/>
      <p:bldP spid="20" grpId="0" animBg="1"/>
      <p:bldP spid="12" grpId="0" animBg="1"/>
      <p:bldP spid="23" grpId="0" build="allAtOnce" animBg="1"/>
      <p:bldP spid="23" grpId="1" build="allAtOnce" animBg="1" rev="1"/>
      <p:bldP spid="24" grpId="0" animBg="1"/>
      <p:bldP spid="24" grpId="1" animBg="1"/>
      <p:bldP spid="26" grpId="0" animBg="1"/>
      <p:bldP spid="26" grpId="1" animBg="1"/>
      <p:bldP spid="10" grpId="1" uiExpand="1" build="allAtOnce" animBg="1" rev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534664D4-8D77-77AB-1172-54242141456A}"/>
              </a:ext>
            </a:extLst>
          </p:cNvPr>
          <p:cNvSpPr txBox="1"/>
          <p:nvPr/>
        </p:nvSpPr>
        <p:spPr>
          <a:xfrm>
            <a:off x="2940424" y="1891553"/>
            <a:ext cx="566569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7200" dirty="0"/>
              <a:t>Demo</a:t>
            </a:r>
          </a:p>
        </p:txBody>
      </p:sp>
    </p:spTree>
    <p:extLst>
      <p:ext uri="{BB962C8B-B14F-4D97-AF65-F5344CB8AC3E}">
        <p14:creationId xmlns:p14="http://schemas.microsoft.com/office/powerpoint/2010/main" val="14932361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A3C44-B071-1818-A129-716F930F95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Tech spec used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6E8297-D3C0-B8C4-7AD8-58ECA31A1D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dirty="0"/>
              <a:t>IDEs</a:t>
            </a:r>
          </a:p>
          <a:p>
            <a:pPr lvl="1"/>
            <a:r>
              <a:rPr lang="en-GB" dirty="0"/>
              <a:t>VS code</a:t>
            </a:r>
          </a:p>
          <a:p>
            <a:pPr lvl="1"/>
            <a:r>
              <a:rPr lang="en-GB" dirty="0"/>
              <a:t>Visual Studio</a:t>
            </a:r>
          </a:p>
          <a:p>
            <a:r>
              <a:rPr lang="en-GB" dirty="0"/>
              <a:t>Containerization of microservices</a:t>
            </a:r>
          </a:p>
          <a:p>
            <a:pPr lvl="1"/>
            <a:r>
              <a:rPr lang="en-GB" dirty="0"/>
              <a:t>Docker containers (Docker desktop (on Windows))</a:t>
            </a:r>
          </a:p>
          <a:p>
            <a:pPr lvl="1"/>
            <a:r>
              <a:rPr lang="en-GB" dirty="0"/>
              <a:t>RabbitMQ</a:t>
            </a:r>
          </a:p>
          <a:p>
            <a:pPr lvl="1"/>
            <a:r>
              <a:rPr lang="en-GB" dirty="0"/>
              <a:t>Azurite (Blob Storage Solution)</a:t>
            </a:r>
          </a:p>
          <a:p>
            <a:r>
              <a:rPr lang="en-GB" dirty="0"/>
              <a:t>Blob Explorer</a:t>
            </a:r>
          </a:p>
          <a:p>
            <a:pPr lvl="1"/>
            <a:r>
              <a:rPr lang="en-GB" dirty="0"/>
              <a:t>Microsoft Azure Storage Explorer</a:t>
            </a:r>
          </a:p>
          <a:p>
            <a:r>
              <a:rPr lang="en-GB" dirty="0"/>
              <a:t>AI tools used</a:t>
            </a:r>
          </a:p>
          <a:p>
            <a:pPr lvl="1"/>
            <a:r>
              <a:rPr lang="en-GB" dirty="0"/>
              <a:t>ChatGPT online</a:t>
            </a:r>
          </a:p>
          <a:p>
            <a:pPr lvl="1"/>
            <a:r>
              <a:rPr lang="en-GB" dirty="0"/>
              <a:t>Claude Code</a:t>
            </a:r>
          </a:p>
          <a:p>
            <a:pPr lvl="1"/>
            <a:r>
              <a:rPr lang="en-GB" dirty="0"/>
              <a:t>GitHub Copilot in VS code</a:t>
            </a:r>
          </a:p>
        </p:txBody>
      </p:sp>
    </p:spTree>
    <p:extLst>
      <p:ext uri="{BB962C8B-B14F-4D97-AF65-F5344CB8AC3E}">
        <p14:creationId xmlns:p14="http://schemas.microsoft.com/office/powerpoint/2010/main" val="15557019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6C24E7-B615-57DB-2DF0-123361EFCF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Roadmap for running the app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95A4D4-31BE-17E5-1BF0-32DA190D0F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Development</a:t>
            </a:r>
          </a:p>
          <a:p>
            <a:pPr lvl="1"/>
            <a:r>
              <a:rPr lang="en-GB" dirty="0"/>
              <a:t>Docker Desktop (on Windows)</a:t>
            </a:r>
          </a:p>
          <a:p>
            <a:pPr lvl="1"/>
            <a:r>
              <a:rPr lang="en-GB" dirty="0"/>
              <a:t>Azurite (Blob)</a:t>
            </a:r>
          </a:p>
          <a:p>
            <a:r>
              <a:rPr lang="en-GB" dirty="0"/>
              <a:t>Stage/Live</a:t>
            </a:r>
          </a:p>
          <a:p>
            <a:pPr lvl="1"/>
            <a:r>
              <a:rPr lang="en-GB" dirty="0"/>
              <a:t>Azure</a:t>
            </a:r>
          </a:p>
          <a:p>
            <a:pPr lvl="1"/>
            <a:r>
              <a:rPr lang="en-GB" dirty="0"/>
              <a:t>Cross the bridge</a:t>
            </a:r>
          </a:p>
          <a:p>
            <a:pPr lvl="1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412810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8D33B3-52EB-2407-8D20-94B516389D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Development Environment (dev computer)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12317D-885E-B906-37FF-1DCCE7D837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204425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A92B70-9E43-C098-7EAA-03AE874335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Live environment (Azure)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595AEA-D98D-C7D5-1DEA-2988114F24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41090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137</Words>
  <Application>Microsoft Office PowerPoint</Application>
  <PresentationFormat>Widescreen</PresentationFormat>
  <Paragraphs>69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Calibri Light</vt:lpstr>
      <vt:lpstr>Office Theme</vt:lpstr>
      <vt:lpstr>DocFlow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Tech spec used</vt:lpstr>
      <vt:lpstr>Roadmap for running the app</vt:lpstr>
      <vt:lpstr>Development Environment (dev computer)</vt:lpstr>
      <vt:lpstr>Live environment (Azure)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vinay kalasannavar</dc:creator>
  <cp:lastModifiedBy>vinay kalasannavar</cp:lastModifiedBy>
  <cp:revision>215</cp:revision>
  <dcterms:created xsi:type="dcterms:W3CDTF">2026-05-21T10:49:38Z</dcterms:created>
  <dcterms:modified xsi:type="dcterms:W3CDTF">2026-06-16T08:01:07Z</dcterms:modified>
</cp:coreProperties>
</file>